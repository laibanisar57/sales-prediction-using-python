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Model Accuracy (R²)</a:t>
            </a:r>
          </a:p>
        </c:rich>
      </c:tx>
      <c:layout/>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1C7293"/>
            </a:solidFill>
            <a:effectLst/>
          </c:spPr>
          <c:invertIfNegative val="0"/>
          <c:dLbls>
            <c:numFmt formatCode="0.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
Regression</c:v>
                  </c:pt>
                  <c:pt idx="1">
                    <c:v>Ridge
Regression</c:v>
                  </c:pt>
                  <c:pt idx="2">
                    <c:v>Random
Forest</c:v>
                  </c:pt>
                </c:lvl>
              </c:multiLvlStrCache>
            </c:multiLvlStrRef>
          </c:cat>
          <c:val>
            <c:numRef>
              <c:f>Sheet1!$B$2:$B$4</c:f>
              <c:numCache>
                <c:formatCode>General</c:formatCode>
                <c:ptCount val="3"/>
                <c:pt idx="0">
                  <c:v>0.899</c:v>
                </c:pt>
                <c:pt idx="1">
                  <c:v>0.91</c:v>
                </c:pt>
                <c:pt idx="2">
                  <c:v>0.975</c:v>
                </c:pt>
              </c:numCache>
            </c:numRef>
          </c:val>
        </c:ser>
        <c:dLbls>
          <c:numFmt formatCode="0.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FE3EF"/>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9525" cap="flat">
              <a:solidFill>
                <a:srgbClr val="35406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FE3EF"/>
                </a:solidFill>
                <a:latin typeface="Arial"/>
              </a:defRPr>
            </a:pPr>
            <a:endParaRPr lang="en-US"/>
          </a:p>
        </c:txPr>
        <c:crossAx val="2094734554"/>
        <c:crosses val="autoZero"/>
        <c:crossBetween val="between"/>
      </c:valAx>
      <c:spPr>
        <a:solidFill>
          <a:srgbClr val="21295C"/>
        </a:solidFill>
        <a:ln>
          <a:noFill/>
        </a:ln>
        <a:effectLst/>
      </c:spPr>
    </c:plotArea>
    <c:plotVisOnly val="1"/>
    <c:dispBlanksAs val="span"/>
  </c:chart>
  <c:spPr>
    <a:solidFill>
      <a:srgbClr val="21295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 I'm going to walk you through my internship project, Sales Prediction Using Python, done as a Data Science Intern with EXPS Nexus Virtual Internship. The core problem is simple to state but valuable to solve: given how much a company spends on TV, Radio, and Newspaper advertising, can we predict resulting sales — and use that to decide where the next ad dollar should go. That's the business goal: turning spend data into a smarter, evidence-based budget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here is deliberately standard and industry-relevant. Python is the base language, with Pandas and NumPy handling all the data loading and cleaning. Scikit-learn does the actual modeling work — training and comparing the regression algorithms — while Matplotlib and Seaborn produce every chart I'll show you today. I developed in Google Colab and VS Code and tracked everything on GitHub, so the whole project is version-controlled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follows five clear stages. I started by loading the data and confirming it was clean, with zero missing values. Next, exploratory analysis looked at how each channel correlates with sales using pair plots. After preprocessing and an 80/20 train-test split, I benchmarked three models — Linear Regression, Ridge, and Random Forest — and validated them using R-squared, MAE, and RMSE, along with Actual versus Predicted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shaped this project. First, Newspaper spend looked meaningful in simple correlation plots, but once I controlled for the other channels, its true marginal effect was almost zero — a classic case of a variable riding on the coattails of TV and Radio. Second, ad spend shows diminishing returns that a straight regression line can't bend to fit, which is why I brought in a Random Forest model. Finally, to avoid recommending the wrong budget shift, I made sure to quantify the exact return per thousand dollars for each channel rather than relying on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Random Forest was the clear winner, reaching an R-squared of about 0.975 compared to roughly 0.899 for plain Linear Regression, because it captures the non-linear saturation we discussed earlier. In business terms, TV is the steady, high-volume driver of reach, Radio gives the strongest return per marketing dollar, and Newspaper spend is essentially dead weight — so my recommendation is to reallocate that Newspaper budget into TV and Radio to maximize overall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502920"/>
            <a:ext cx="7772400" cy="320040"/>
          </a:xfrm>
          <a:prstGeom prst="rect">
            <a:avLst/>
          </a:prstGeom>
          <a:noFill/>
          <a:ln/>
        </p:spPr>
        <p:txBody>
          <a:bodyPr wrap="square" rtlCol="0" anchor="ctr"/>
          <a:lstStyle/>
          <a:p>
            <a:pPr algn="l" indent="0" marL="0">
              <a:buNone/>
            </a:pPr>
            <a:r>
              <a:rPr lang="en-US" sz="1200" b="1" spc="200" kern="0" dirty="0">
                <a:solidFill>
                  <a:srgbClr val="F2C14E"/>
                </a:solidFill>
                <a:latin typeface="Calibri" pitchFamily="34" charset="0"/>
                <a:ea typeface="Calibri" pitchFamily="34" charset="-122"/>
                <a:cs typeface="Calibri" pitchFamily="34" charset="-120"/>
              </a:rPr>
              <a:t>EXPS NEXUS VIRTUAL INTERNSHIP  •  DATA SCIENCE INTERN</a:t>
            </a:r>
            <a:endParaRPr lang="en-US" sz="1200" dirty="0"/>
          </a:p>
        </p:txBody>
      </p:sp>
      <p:sp>
        <p:nvSpPr>
          <p:cNvPr id="3" name="Text 1"/>
          <p:cNvSpPr txBox="1"/>
          <p:nvPr/>
        </p:nvSpPr>
        <p:spPr>
          <a:xfrm>
            <a:off x="640080" y="868680"/>
            <a:ext cx="7315200" cy="100584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Sales Prediction Using Python</a:t>
            </a:r>
            <a:endParaRPr lang="en-US" sz="4000" dirty="0"/>
          </a:p>
        </p:txBody>
      </p:sp>
      <p:sp>
        <p:nvSpPr>
          <p:cNvPr id="4" name="Text 2"/>
          <p:cNvSpPr txBox="1"/>
          <p:nvPr/>
        </p:nvSpPr>
        <p:spPr>
          <a:xfrm>
            <a:off x="640080" y="1783080"/>
            <a:ext cx="7315200" cy="548640"/>
          </a:xfrm>
          <a:prstGeom prst="rect">
            <a:avLst/>
          </a:prstGeom>
          <a:noFill/>
          <a:ln/>
        </p:spPr>
        <p:txBody>
          <a:bodyPr wrap="square" rtlCol="0" anchor="ctr"/>
          <a:lstStyle/>
          <a:p>
            <a:pPr algn="l" indent="0" marL="0">
              <a:buNone/>
            </a:pPr>
            <a:r>
              <a:rPr lang="en-US" sz="1800" i="1" dirty="0">
                <a:solidFill>
                  <a:srgbClr val="CFE3EF"/>
                </a:solidFill>
                <a:latin typeface="Calibri" pitchFamily="34" charset="0"/>
                <a:ea typeface="Calibri" pitchFamily="34" charset="-122"/>
                <a:cs typeface="Calibri" pitchFamily="34" charset="-120"/>
              </a:rPr>
              <a:t>Turning advertising spend into smarter, data-driven budget decisions</a:t>
            </a:r>
            <a:endParaRPr lang="en-US" sz="1800" dirty="0"/>
          </a:p>
        </p:txBody>
      </p:sp>
      <p:sp>
        <p:nvSpPr>
          <p:cNvPr id="5" name="Text 3"/>
          <p:cNvSpPr txBox="1"/>
          <p:nvPr/>
        </p:nvSpPr>
        <p:spPr>
          <a:xfrm>
            <a:off x="640080" y="2651760"/>
            <a:ext cx="6309360" cy="3566160"/>
          </a:xfrm>
          <a:prstGeom prst="rect">
            <a:avLst/>
          </a:prstGeom>
          <a:noFill/>
          <a:ln/>
        </p:spPr>
        <p:txBody>
          <a:bodyPr wrap="square" rtlCol="0" anchor="t"/>
          <a:lstStyle/>
          <a:p>
            <a:pPr marL="228600" indent="-228600">
              <a:lnSpc>
                <a:spcPct val="108000"/>
              </a:lnSpc>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Problem: predict product sales from marketing investment across TV, Radio, and Newspaper channels.</a:t>
            </a:r>
            <a:endParaRPr lang="en-US" sz="1500" dirty="0"/>
          </a:p>
          <a:p>
            <a:pPr marL="228600" indent="-228600">
              <a:lnSpc>
                <a:spcPct val="108000"/>
              </a:lnSpc>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Business goal: help businesses optimize ad budgets and maximize return on investment (ROI).</a:t>
            </a:r>
            <a:endParaRPr lang="en-US" sz="1500" dirty="0"/>
          </a:p>
          <a:p>
            <a:pPr marL="228600" indent="-228600">
              <a:lnSpc>
                <a:spcPct val="108000"/>
              </a:lnSpc>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Context: every marketing dollar counts — this project turns raw spend data into a decision-making tool.</a:t>
            </a:r>
            <a:endParaRPr lang="en-US" sz="1500" dirty="0"/>
          </a:p>
          <a:p>
            <a:pPr marL="228600" indent="-228600">
              <a:lnSpc>
                <a:spcPct val="108000"/>
              </a:lnSpc>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Deliverable: a trained model plus a clear, evidence-based budget reallocation strategy.</a:t>
            </a:r>
            <a:endParaRPr lang="en-US" sz="1500" dirty="0"/>
          </a:p>
        </p:txBody>
      </p:sp>
      <p:sp>
        <p:nvSpPr>
          <p:cNvPr id="6" name="Shape 4"/>
          <p:cNvSpPr/>
          <p:nvPr/>
        </p:nvSpPr>
        <p:spPr>
          <a:xfrm>
            <a:off x="7452360" y="1965960"/>
            <a:ext cx="777240" cy="777240"/>
          </a:xfrm>
          <a:prstGeom prst="ellipse">
            <a:avLst/>
          </a:prstGeom>
          <a:solidFill>
            <a:srgbClr val="1C7293"/>
          </a:solidFill>
          <a:ln/>
        </p:spPr>
      </p:sp>
      <p:sp>
        <p:nvSpPr>
          <p:cNvPr id="7" name="Text 5"/>
          <p:cNvSpPr txBox="1"/>
          <p:nvPr/>
        </p:nvSpPr>
        <p:spPr>
          <a:xfrm>
            <a:off x="7452360" y="1965960"/>
            <a:ext cx="777240" cy="77724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TV</a:t>
            </a:r>
            <a:endParaRPr lang="en-US" sz="1300" dirty="0"/>
          </a:p>
        </p:txBody>
      </p:sp>
      <p:sp>
        <p:nvSpPr>
          <p:cNvPr id="8" name="Shape 6"/>
          <p:cNvSpPr/>
          <p:nvPr/>
        </p:nvSpPr>
        <p:spPr>
          <a:xfrm>
            <a:off x="7452360" y="3035808"/>
            <a:ext cx="777240" cy="777240"/>
          </a:xfrm>
          <a:prstGeom prst="ellipse">
            <a:avLst/>
          </a:prstGeom>
          <a:solidFill>
            <a:srgbClr val="1C7293"/>
          </a:solidFill>
          <a:ln/>
        </p:spPr>
      </p:sp>
      <p:sp>
        <p:nvSpPr>
          <p:cNvPr id="9" name="Text 7"/>
          <p:cNvSpPr txBox="1"/>
          <p:nvPr/>
        </p:nvSpPr>
        <p:spPr>
          <a:xfrm>
            <a:off x="7452360" y="3035808"/>
            <a:ext cx="777240" cy="77724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Radio</a:t>
            </a:r>
            <a:endParaRPr lang="en-US" sz="1200" dirty="0"/>
          </a:p>
        </p:txBody>
      </p:sp>
      <p:sp>
        <p:nvSpPr>
          <p:cNvPr id="10" name="Shape 8"/>
          <p:cNvSpPr/>
          <p:nvPr/>
        </p:nvSpPr>
        <p:spPr>
          <a:xfrm>
            <a:off x="7452360" y="4105656"/>
            <a:ext cx="777240" cy="777240"/>
          </a:xfrm>
          <a:prstGeom prst="ellipse">
            <a:avLst/>
          </a:prstGeom>
          <a:solidFill>
            <a:srgbClr val="1C7293"/>
          </a:solidFill>
          <a:ln/>
        </p:spPr>
      </p:sp>
      <p:sp>
        <p:nvSpPr>
          <p:cNvPr id="11" name="Text 9"/>
          <p:cNvSpPr txBox="1"/>
          <p:nvPr/>
        </p:nvSpPr>
        <p:spPr>
          <a:xfrm>
            <a:off x="7452360" y="4105656"/>
            <a:ext cx="777240" cy="77724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News</a:t>
            </a:r>
            <a:endParaRPr lang="en-US" sz="1200" dirty="0"/>
          </a:p>
        </p:txBody>
      </p:sp>
      <p:sp>
        <p:nvSpPr>
          <p:cNvPr id="12" name="Shape 10"/>
          <p:cNvSpPr/>
          <p:nvPr/>
        </p:nvSpPr>
        <p:spPr>
          <a:xfrm>
            <a:off x="8229600" y="2350008"/>
            <a:ext cx="960120" cy="1078992"/>
          </a:xfrm>
          <a:prstGeom prst="line">
            <a:avLst/>
          </a:prstGeom>
          <a:noFill/>
          <a:ln w="25400">
            <a:solidFill>
              <a:srgbClr val="CFE3EF"/>
            </a:solidFill>
            <a:prstDash val="solid"/>
            <a:tailEnd type="triangle"/>
          </a:ln>
        </p:spPr>
      </p:sp>
      <p:sp>
        <p:nvSpPr>
          <p:cNvPr id="13" name="Shape 11"/>
          <p:cNvSpPr/>
          <p:nvPr/>
        </p:nvSpPr>
        <p:spPr>
          <a:xfrm>
            <a:off x="8229600" y="3424428"/>
            <a:ext cx="960120" cy="0"/>
          </a:xfrm>
          <a:prstGeom prst="line">
            <a:avLst/>
          </a:prstGeom>
          <a:noFill/>
          <a:ln w="25400">
            <a:solidFill>
              <a:srgbClr val="CFE3EF"/>
            </a:solidFill>
            <a:prstDash val="solid"/>
            <a:tailEnd type="triangle"/>
          </a:ln>
        </p:spPr>
      </p:sp>
      <p:sp>
        <p:nvSpPr>
          <p:cNvPr id="14" name="Shape 12"/>
          <p:cNvSpPr/>
          <p:nvPr/>
        </p:nvSpPr>
        <p:spPr>
          <a:xfrm>
            <a:off x="8229600" y="4494276"/>
            <a:ext cx="960120" cy="-1069848"/>
          </a:xfrm>
          <a:prstGeom prst="line">
            <a:avLst/>
          </a:prstGeom>
          <a:noFill/>
          <a:ln w="25400">
            <a:solidFill>
              <a:srgbClr val="CFE3EF"/>
            </a:solidFill>
            <a:prstDash val="solid"/>
            <a:tailEnd type="triangle"/>
          </a:ln>
        </p:spPr>
      </p:sp>
      <p:sp>
        <p:nvSpPr>
          <p:cNvPr id="15" name="Shape 13"/>
          <p:cNvSpPr/>
          <p:nvPr/>
        </p:nvSpPr>
        <p:spPr>
          <a:xfrm>
            <a:off x="9189720" y="2788920"/>
            <a:ext cx="1280160" cy="1280160"/>
          </a:xfrm>
          <a:prstGeom prst="ellipse">
            <a:avLst/>
          </a:prstGeom>
          <a:solidFill>
            <a:srgbClr val="FFFFFF"/>
          </a:solidFill>
          <a:ln/>
        </p:spPr>
      </p:sp>
      <p:sp>
        <p:nvSpPr>
          <p:cNvPr id="16" name="Text 14"/>
          <p:cNvSpPr txBox="1"/>
          <p:nvPr/>
        </p:nvSpPr>
        <p:spPr>
          <a:xfrm>
            <a:off x="9189720" y="2788920"/>
            <a:ext cx="1280160" cy="1280160"/>
          </a:xfrm>
          <a:prstGeom prst="rect">
            <a:avLst/>
          </a:prstGeom>
          <a:noFill/>
          <a:ln/>
        </p:spPr>
        <p:txBody>
          <a:bodyPr wrap="square" lIns="0" tIns="0" rIns="0" bIns="0" rtlCol="0" anchor="ctr"/>
          <a:lstStyle/>
          <a:p>
            <a:pPr algn="ctr" indent="0" marL="0">
              <a:lnSpc>
                <a:spcPct val="100000"/>
              </a:lnSpc>
              <a:buNone/>
            </a:pPr>
            <a:r>
              <a:rPr lang="en-US" sz="1400" b="1" dirty="0">
                <a:solidFill>
                  <a:srgbClr val="21295C"/>
                </a:solidFill>
                <a:latin typeface="Calibri" pitchFamily="34" charset="0"/>
                <a:ea typeface="Calibri" pitchFamily="34" charset="-122"/>
                <a:cs typeface="Calibri" pitchFamily="34" charset="-120"/>
              </a:rPr>
              <a:t>Prediction</a:t>
            </a:r>
            <a:endParaRPr lang="en-US" sz="1400" dirty="0"/>
          </a:p>
          <a:p>
            <a:pPr algn="ctr" indent="0" marL="0">
              <a:lnSpc>
                <a:spcPct val="100000"/>
              </a:lnSpc>
              <a:buNone/>
            </a:pPr>
            <a:r>
              <a:rPr lang="en-US" sz="1400" b="1" dirty="0">
                <a:solidFill>
                  <a:srgbClr val="21295C"/>
                </a:solidFill>
                <a:latin typeface="Calibri" pitchFamily="34" charset="0"/>
                <a:ea typeface="Calibri" pitchFamily="34" charset="-122"/>
                <a:cs typeface="Calibri" pitchFamily="34" charset="-120"/>
              </a:rPr>
              <a:t>Model</a:t>
            </a:r>
            <a:endParaRPr lang="en-US" sz="1400" dirty="0"/>
          </a:p>
        </p:txBody>
      </p:sp>
      <p:sp>
        <p:nvSpPr>
          <p:cNvPr id="17" name="Shape 15"/>
          <p:cNvSpPr/>
          <p:nvPr/>
        </p:nvSpPr>
        <p:spPr>
          <a:xfrm>
            <a:off x="10469880" y="3429000"/>
            <a:ext cx="502920" cy="0"/>
          </a:xfrm>
          <a:prstGeom prst="line">
            <a:avLst/>
          </a:prstGeom>
          <a:noFill/>
          <a:ln w="25400">
            <a:solidFill>
              <a:srgbClr val="F2C14E"/>
            </a:solidFill>
            <a:prstDash val="solid"/>
            <a:tailEnd type="triangle"/>
          </a:ln>
        </p:spPr>
      </p:sp>
      <p:sp>
        <p:nvSpPr>
          <p:cNvPr id="18" name="Shape 16"/>
          <p:cNvSpPr/>
          <p:nvPr/>
        </p:nvSpPr>
        <p:spPr>
          <a:xfrm>
            <a:off x="10972800" y="2971800"/>
            <a:ext cx="914400" cy="914400"/>
          </a:xfrm>
          <a:prstGeom prst="ellipse">
            <a:avLst/>
          </a:prstGeom>
          <a:solidFill>
            <a:srgbClr val="F2C14E"/>
          </a:solidFill>
          <a:ln/>
        </p:spPr>
      </p:sp>
      <p:sp>
        <p:nvSpPr>
          <p:cNvPr id="19" name="Text 17"/>
          <p:cNvSpPr txBox="1"/>
          <p:nvPr/>
        </p:nvSpPr>
        <p:spPr>
          <a:xfrm>
            <a:off x="10972800" y="2971800"/>
            <a:ext cx="914400" cy="914400"/>
          </a:xfrm>
          <a:prstGeom prst="rect">
            <a:avLst/>
          </a:prstGeom>
          <a:noFill/>
          <a:ln/>
        </p:spPr>
        <p:txBody>
          <a:bodyPr wrap="square" lIns="0" tIns="0" rIns="0" bIns="0" rtlCol="0" anchor="ctr"/>
          <a:lstStyle/>
          <a:p>
            <a:pPr algn="ctr" indent="0" marL="0">
              <a:lnSpc>
                <a:spcPct val="100000"/>
              </a:lnSpc>
              <a:buNone/>
            </a:pPr>
            <a:r>
              <a:rPr lang="en-US" sz="1300" b="1" dirty="0">
                <a:solidFill>
                  <a:srgbClr val="21295C"/>
                </a:solidFill>
                <a:latin typeface="Calibri" pitchFamily="34" charset="0"/>
                <a:ea typeface="Calibri" pitchFamily="34" charset="-122"/>
                <a:cs typeface="Calibri" pitchFamily="34" charset="-120"/>
              </a:rPr>
              <a:t>Higher</a:t>
            </a:r>
            <a:endParaRPr lang="en-US" sz="1300" dirty="0"/>
          </a:p>
          <a:p>
            <a:pPr algn="ctr" indent="0" marL="0">
              <a:lnSpc>
                <a:spcPct val="100000"/>
              </a:lnSpc>
              <a:buNone/>
            </a:pPr>
            <a:r>
              <a:rPr lang="en-US" sz="1300" b="1" dirty="0">
                <a:solidFill>
                  <a:srgbClr val="21295C"/>
                </a:solidFill>
                <a:latin typeface="Calibri" pitchFamily="34" charset="0"/>
                <a:ea typeface="Calibri" pitchFamily="34" charset="-122"/>
                <a:cs typeface="Calibri" pitchFamily="34" charset="-120"/>
              </a:rPr>
              <a:t>ROI</a:t>
            </a:r>
            <a:endParaRPr lang="en-US" sz="1300" dirty="0"/>
          </a:p>
        </p:txBody>
      </p:sp>
      <p:sp>
        <p:nvSpPr>
          <p:cNvPr id="20" name="Text 18"/>
          <p:cNvSpPr txBox="1"/>
          <p:nvPr/>
        </p:nvSpPr>
        <p:spPr>
          <a:xfrm>
            <a:off x="7178040" y="5257800"/>
            <a:ext cx="4572000" cy="320040"/>
          </a:xfrm>
          <a:prstGeom prst="rect">
            <a:avLst/>
          </a:prstGeom>
          <a:noFill/>
          <a:ln/>
        </p:spPr>
        <p:txBody>
          <a:bodyPr wrap="square" rtlCol="0" anchor="ctr"/>
          <a:lstStyle/>
          <a:p>
            <a:pPr algn="ctr" indent="0" marL="0">
              <a:buNone/>
            </a:pPr>
            <a:r>
              <a:rPr lang="en-US" sz="1100" i="1" dirty="0">
                <a:solidFill>
                  <a:srgbClr val="CFE3EF"/>
                </a:solidFill>
                <a:latin typeface="Calibri" pitchFamily="34" charset="0"/>
                <a:ea typeface="Calibri" pitchFamily="34" charset="-122"/>
                <a:cs typeface="Calibri" pitchFamily="34" charset="-120"/>
              </a:rPr>
              <a:t>Ad spend  →  Model  →  Optimized budget</a:t>
            </a:r>
            <a:endParaRPr lang="en-US" sz="1100" dirty="0"/>
          </a:p>
        </p:txBody>
      </p:sp>
      <p:sp>
        <p:nvSpPr>
          <p:cNvPr id="21" name="Text 19"/>
          <p:cNvSpPr txBox="1"/>
          <p:nvPr/>
        </p:nvSpPr>
        <p:spPr>
          <a:xfrm>
            <a:off x="457200" y="6528816"/>
            <a:ext cx="8229600" cy="274320"/>
          </a:xfrm>
          <a:prstGeom prst="rect">
            <a:avLst/>
          </a:prstGeom>
          <a:noFill/>
          <a:ln/>
        </p:spPr>
        <p:txBody>
          <a:bodyPr wrap="square" rtlCol="0" anchor="ctr"/>
          <a:lstStyle/>
          <a:p>
            <a:pPr algn="l" indent="0" marL="0">
              <a:buNone/>
            </a:pPr>
            <a:r>
              <a:rPr lang="en-US" sz="900" spc="100" kern="0" dirty="0">
                <a:solidFill>
                  <a:srgbClr val="CFE3EF"/>
                </a:solidFill>
                <a:latin typeface="Calibri" pitchFamily="34" charset="0"/>
                <a:ea typeface="Calibri" pitchFamily="34" charset="-122"/>
                <a:cs typeface="Calibri" pitchFamily="34" charset="-120"/>
              </a:rPr>
              <a:t>EXPS NEXUS VIRTUAL INTERNSHIP  •  SALES PREDICTION USING PYTHON</a:t>
            </a:r>
            <a:endParaRPr lang="en-US" sz="900" dirty="0"/>
          </a:p>
        </p:txBody>
      </p:sp>
      <p:sp>
        <p:nvSpPr>
          <p:cNvPr id="22" name="Text 20"/>
          <p:cNvSpPr txBox="1"/>
          <p:nvPr/>
        </p:nvSpPr>
        <p:spPr>
          <a:xfrm>
            <a:off x="10972800" y="6528816"/>
            <a:ext cx="758952" cy="274320"/>
          </a:xfrm>
          <a:prstGeom prst="rect">
            <a:avLst/>
          </a:prstGeom>
          <a:noFill/>
          <a:ln/>
        </p:spPr>
        <p:txBody>
          <a:bodyPr wrap="square" rtlCol="0" anchor="ctr"/>
          <a:lstStyle/>
          <a:p>
            <a:pPr algn="r" indent="0" marL="0">
              <a:buNone/>
            </a:pPr>
            <a:r>
              <a:rPr lang="en-US" sz="900" dirty="0">
                <a:solidFill>
                  <a:srgbClr val="CFE3EF"/>
                </a:solidFill>
                <a:latin typeface="Calibri" pitchFamily="34" charset="0"/>
                <a:ea typeface="Calibri" pitchFamily="34" charset="-122"/>
                <a:cs typeface="Calibri" pitchFamily="34" charset="-120"/>
              </a:rPr>
              <a:t>01 / 05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DFE"/>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THE TOOLKIT</a:t>
            </a:r>
            <a:endParaRPr lang="en-US" sz="1200" dirty="0"/>
          </a:p>
        </p:txBody>
      </p:sp>
      <p:sp>
        <p:nvSpPr>
          <p:cNvPr id="3" name="Text 1"/>
          <p:cNvSpPr txBox="1"/>
          <p:nvPr/>
        </p:nvSpPr>
        <p:spPr>
          <a:xfrm>
            <a:off x="640080" y="804672"/>
            <a:ext cx="9144000" cy="64008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Technologies &amp; Tools Used</a:t>
            </a:r>
            <a:endParaRPr lang="en-US" sz="3400" dirty="0"/>
          </a:p>
        </p:txBody>
      </p:sp>
      <p:sp>
        <p:nvSpPr>
          <p:cNvPr id="4" name="Text 2"/>
          <p:cNvSpPr txBox="1"/>
          <p:nvPr/>
        </p:nvSpPr>
        <p:spPr>
          <a:xfrm>
            <a:off x="640080" y="1371600"/>
            <a:ext cx="9144000" cy="411480"/>
          </a:xfrm>
          <a:prstGeom prst="rect">
            <a:avLst/>
          </a:prstGeom>
          <a:noFill/>
          <a:ln/>
        </p:spPr>
        <p:txBody>
          <a:bodyPr wrap="square" rtlCol="0" anchor="ctr"/>
          <a:lstStyle/>
          <a:p>
            <a:pPr indent="0" marL="0">
              <a:buNone/>
            </a:pPr>
            <a:r>
              <a:rPr lang="en-US" sz="1600" i="1" dirty="0">
                <a:solidFill>
                  <a:srgbClr val="5B6B79"/>
                </a:solidFill>
                <a:latin typeface="Calibri" pitchFamily="34" charset="0"/>
                <a:ea typeface="Calibri" pitchFamily="34" charset="-122"/>
                <a:cs typeface="Calibri" pitchFamily="34" charset="-120"/>
              </a:rPr>
              <a:t>A practical, industry-standard data science stack</a:t>
            </a:r>
            <a:endParaRPr lang="en-US" sz="1600" dirty="0"/>
          </a:p>
        </p:txBody>
      </p:sp>
      <p:sp>
        <p:nvSpPr>
          <p:cNvPr id="5" name="Shape 3"/>
          <p:cNvSpPr/>
          <p:nvPr/>
        </p:nvSpPr>
        <p:spPr>
          <a:xfrm>
            <a:off x="640080" y="205740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6" name="Shape 4"/>
          <p:cNvSpPr/>
          <p:nvPr/>
        </p:nvSpPr>
        <p:spPr>
          <a:xfrm>
            <a:off x="896112" y="2322576"/>
            <a:ext cx="768096" cy="768096"/>
          </a:xfrm>
          <a:prstGeom prst="ellipse">
            <a:avLst/>
          </a:prstGeom>
          <a:solidFill>
            <a:srgbClr val="065A82"/>
          </a:solidFill>
          <a:ln/>
        </p:spPr>
      </p:sp>
      <p:sp>
        <p:nvSpPr>
          <p:cNvPr id="7" name="Text 5"/>
          <p:cNvSpPr txBox="1"/>
          <p:nvPr/>
        </p:nvSpPr>
        <p:spPr>
          <a:xfrm>
            <a:off x="896112" y="232257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PY</a:t>
            </a:r>
            <a:endParaRPr lang="en-US" sz="1500" dirty="0"/>
          </a:p>
        </p:txBody>
      </p:sp>
      <p:sp>
        <p:nvSpPr>
          <p:cNvPr id="8" name="Text 6"/>
          <p:cNvSpPr txBox="1"/>
          <p:nvPr/>
        </p:nvSpPr>
        <p:spPr>
          <a:xfrm>
            <a:off x="1874520" y="224028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Python</a:t>
            </a:r>
            <a:endParaRPr lang="en-US" sz="1600" dirty="0"/>
          </a:p>
        </p:txBody>
      </p:sp>
      <p:sp>
        <p:nvSpPr>
          <p:cNvPr id="9" name="Text 7"/>
          <p:cNvSpPr txBox="1"/>
          <p:nvPr/>
        </p:nvSpPr>
        <p:spPr>
          <a:xfrm>
            <a:off x="1874520" y="262432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Core programming language for the entire project</a:t>
            </a:r>
            <a:endParaRPr lang="en-US" sz="1250" dirty="0"/>
          </a:p>
        </p:txBody>
      </p:sp>
      <p:sp>
        <p:nvSpPr>
          <p:cNvPr id="10" name="Shape 8"/>
          <p:cNvSpPr/>
          <p:nvPr/>
        </p:nvSpPr>
        <p:spPr>
          <a:xfrm>
            <a:off x="6309360" y="205740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11" name="Shape 9"/>
          <p:cNvSpPr/>
          <p:nvPr/>
        </p:nvSpPr>
        <p:spPr>
          <a:xfrm>
            <a:off x="6565392" y="2322576"/>
            <a:ext cx="768096" cy="768096"/>
          </a:xfrm>
          <a:prstGeom prst="ellipse">
            <a:avLst/>
          </a:prstGeom>
          <a:solidFill>
            <a:srgbClr val="065A82"/>
          </a:solidFill>
          <a:ln/>
        </p:spPr>
      </p:sp>
      <p:sp>
        <p:nvSpPr>
          <p:cNvPr id="12" name="Text 10"/>
          <p:cNvSpPr txBox="1"/>
          <p:nvPr/>
        </p:nvSpPr>
        <p:spPr>
          <a:xfrm>
            <a:off x="6565392" y="232257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pd</a:t>
            </a:r>
            <a:endParaRPr lang="en-US" sz="1500" dirty="0"/>
          </a:p>
        </p:txBody>
      </p:sp>
      <p:sp>
        <p:nvSpPr>
          <p:cNvPr id="13" name="Text 11"/>
          <p:cNvSpPr txBox="1"/>
          <p:nvPr/>
        </p:nvSpPr>
        <p:spPr>
          <a:xfrm>
            <a:off x="7543800" y="224028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Pandas &amp; NumPy</a:t>
            </a:r>
            <a:endParaRPr lang="en-US" sz="1600" dirty="0"/>
          </a:p>
        </p:txBody>
      </p:sp>
      <p:sp>
        <p:nvSpPr>
          <p:cNvPr id="14" name="Text 12"/>
          <p:cNvSpPr txBox="1"/>
          <p:nvPr/>
        </p:nvSpPr>
        <p:spPr>
          <a:xfrm>
            <a:off x="7543800" y="262432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Loading, cleaning, and structuring the marketing data</a:t>
            </a:r>
            <a:endParaRPr lang="en-US" sz="1250" dirty="0"/>
          </a:p>
        </p:txBody>
      </p:sp>
      <p:sp>
        <p:nvSpPr>
          <p:cNvPr id="15" name="Shape 13"/>
          <p:cNvSpPr/>
          <p:nvPr/>
        </p:nvSpPr>
        <p:spPr>
          <a:xfrm>
            <a:off x="640080" y="361188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16" name="Shape 14"/>
          <p:cNvSpPr/>
          <p:nvPr/>
        </p:nvSpPr>
        <p:spPr>
          <a:xfrm>
            <a:off x="896112" y="3877056"/>
            <a:ext cx="768096" cy="768096"/>
          </a:xfrm>
          <a:prstGeom prst="ellipse">
            <a:avLst/>
          </a:prstGeom>
          <a:solidFill>
            <a:srgbClr val="065A82"/>
          </a:solidFill>
          <a:ln/>
        </p:spPr>
      </p:sp>
      <p:sp>
        <p:nvSpPr>
          <p:cNvPr id="17" name="Text 15"/>
          <p:cNvSpPr txBox="1"/>
          <p:nvPr/>
        </p:nvSpPr>
        <p:spPr>
          <a:xfrm>
            <a:off x="896112" y="387705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sk</a:t>
            </a:r>
            <a:endParaRPr lang="en-US" sz="1500" dirty="0"/>
          </a:p>
        </p:txBody>
      </p:sp>
      <p:sp>
        <p:nvSpPr>
          <p:cNvPr id="18" name="Text 16"/>
          <p:cNvSpPr txBox="1"/>
          <p:nvPr/>
        </p:nvSpPr>
        <p:spPr>
          <a:xfrm>
            <a:off x="1874520" y="379476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Scikit-learn</a:t>
            </a:r>
            <a:endParaRPr lang="en-US" sz="1600" dirty="0"/>
          </a:p>
        </p:txBody>
      </p:sp>
      <p:sp>
        <p:nvSpPr>
          <p:cNvPr id="19" name="Text 17"/>
          <p:cNvSpPr txBox="1"/>
          <p:nvPr/>
        </p:nvSpPr>
        <p:spPr>
          <a:xfrm>
            <a:off x="1874520" y="417880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Building and evaluating the regression models</a:t>
            </a:r>
            <a:endParaRPr lang="en-US" sz="1250" dirty="0"/>
          </a:p>
        </p:txBody>
      </p:sp>
      <p:sp>
        <p:nvSpPr>
          <p:cNvPr id="20" name="Shape 18"/>
          <p:cNvSpPr/>
          <p:nvPr/>
        </p:nvSpPr>
        <p:spPr>
          <a:xfrm>
            <a:off x="6309360" y="361188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21" name="Shape 19"/>
          <p:cNvSpPr/>
          <p:nvPr/>
        </p:nvSpPr>
        <p:spPr>
          <a:xfrm>
            <a:off x="6565392" y="3877056"/>
            <a:ext cx="768096" cy="768096"/>
          </a:xfrm>
          <a:prstGeom prst="ellipse">
            <a:avLst/>
          </a:prstGeom>
          <a:solidFill>
            <a:srgbClr val="065A82"/>
          </a:solidFill>
          <a:ln/>
        </p:spPr>
      </p:sp>
      <p:sp>
        <p:nvSpPr>
          <p:cNvPr id="22" name="Text 20"/>
          <p:cNvSpPr txBox="1"/>
          <p:nvPr/>
        </p:nvSpPr>
        <p:spPr>
          <a:xfrm>
            <a:off x="6565392" y="387705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7543800" y="379476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Matplotlib &amp; Seaborn</a:t>
            </a:r>
            <a:endParaRPr lang="en-US" sz="1600" dirty="0"/>
          </a:p>
        </p:txBody>
      </p:sp>
      <p:sp>
        <p:nvSpPr>
          <p:cNvPr id="24" name="Text 22"/>
          <p:cNvSpPr txBox="1"/>
          <p:nvPr/>
        </p:nvSpPr>
        <p:spPr>
          <a:xfrm>
            <a:off x="7543800" y="417880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Correlation plots, pair plots, and prediction charts</a:t>
            </a:r>
            <a:endParaRPr lang="en-US" sz="1250" dirty="0"/>
          </a:p>
        </p:txBody>
      </p:sp>
      <p:sp>
        <p:nvSpPr>
          <p:cNvPr id="25" name="Shape 23"/>
          <p:cNvSpPr/>
          <p:nvPr/>
        </p:nvSpPr>
        <p:spPr>
          <a:xfrm>
            <a:off x="640080" y="516636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26" name="Shape 24"/>
          <p:cNvSpPr/>
          <p:nvPr/>
        </p:nvSpPr>
        <p:spPr>
          <a:xfrm>
            <a:off x="896112" y="5431536"/>
            <a:ext cx="768096" cy="768096"/>
          </a:xfrm>
          <a:prstGeom prst="ellipse">
            <a:avLst/>
          </a:prstGeom>
          <a:solidFill>
            <a:srgbClr val="065A82"/>
          </a:solidFill>
          <a:ln/>
        </p:spPr>
      </p:sp>
      <p:sp>
        <p:nvSpPr>
          <p:cNvPr id="27" name="Text 25"/>
          <p:cNvSpPr txBox="1"/>
          <p:nvPr/>
        </p:nvSpPr>
        <p:spPr>
          <a:xfrm>
            <a:off x="896112" y="543153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&lt;/&gt;</a:t>
            </a:r>
            <a:endParaRPr lang="en-US" sz="1500" dirty="0"/>
          </a:p>
        </p:txBody>
      </p:sp>
      <p:sp>
        <p:nvSpPr>
          <p:cNvPr id="28" name="Text 26"/>
          <p:cNvSpPr txBox="1"/>
          <p:nvPr/>
        </p:nvSpPr>
        <p:spPr>
          <a:xfrm>
            <a:off x="1874520" y="534924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Colab / VS Code</a:t>
            </a:r>
            <a:endParaRPr lang="en-US" sz="1600" dirty="0"/>
          </a:p>
        </p:txBody>
      </p:sp>
      <p:sp>
        <p:nvSpPr>
          <p:cNvPr id="29" name="Text 27"/>
          <p:cNvSpPr txBox="1"/>
          <p:nvPr/>
        </p:nvSpPr>
        <p:spPr>
          <a:xfrm>
            <a:off x="1874520" y="573328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Development environments for coding and testing</a:t>
            </a:r>
            <a:endParaRPr lang="en-US" sz="1250" dirty="0"/>
          </a:p>
        </p:txBody>
      </p:sp>
      <p:sp>
        <p:nvSpPr>
          <p:cNvPr id="30" name="Shape 28"/>
          <p:cNvSpPr/>
          <p:nvPr/>
        </p:nvSpPr>
        <p:spPr>
          <a:xfrm>
            <a:off x="6309360" y="5166360"/>
            <a:ext cx="5349240" cy="1298448"/>
          </a:xfrm>
          <a:prstGeom prst="roundRect">
            <a:avLst>
              <a:gd name="adj" fmla="val 5634"/>
            </a:avLst>
          </a:prstGeom>
          <a:solidFill>
            <a:srgbClr val="EEF4F8"/>
          </a:solidFill>
          <a:ln/>
          <a:effectLst>
            <a:outerShdw sx="100000" sy="100000" kx="0" ky="0" algn="bl" rotWithShape="0" blurRad="63500" dist="25400" dir="5400000">
              <a:srgbClr val="21295C">
                <a:alpha val="12000"/>
              </a:srgbClr>
            </a:outerShdw>
          </a:effectLst>
        </p:spPr>
      </p:sp>
      <p:sp>
        <p:nvSpPr>
          <p:cNvPr id="31" name="Shape 29"/>
          <p:cNvSpPr/>
          <p:nvPr/>
        </p:nvSpPr>
        <p:spPr>
          <a:xfrm>
            <a:off x="6565392" y="5431536"/>
            <a:ext cx="768096" cy="768096"/>
          </a:xfrm>
          <a:prstGeom prst="ellipse">
            <a:avLst/>
          </a:prstGeom>
          <a:solidFill>
            <a:srgbClr val="065A82"/>
          </a:solidFill>
          <a:ln/>
        </p:spPr>
      </p:sp>
      <p:sp>
        <p:nvSpPr>
          <p:cNvPr id="32" name="Text 30"/>
          <p:cNvSpPr txBox="1"/>
          <p:nvPr/>
        </p:nvSpPr>
        <p:spPr>
          <a:xfrm>
            <a:off x="6565392" y="5431536"/>
            <a:ext cx="768096" cy="768096"/>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GH</a:t>
            </a:r>
            <a:endParaRPr lang="en-US" sz="1500" dirty="0"/>
          </a:p>
        </p:txBody>
      </p:sp>
      <p:sp>
        <p:nvSpPr>
          <p:cNvPr id="33" name="Text 31"/>
          <p:cNvSpPr txBox="1"/>
          <p:nvPr/>
        </p:nvSpPr>
        <p:spPr>
          <a:xfrm>
            <a:off x="7543800" y="5349240"/>
            <a:ext cx="3886200" cy="365760"/>
          </a:xfrm>
          <a:prstGeom prst="rect">
            <a:avLst/>
          </a:prstGeom>
          <a:noFill/>
          <a:ln/>
        </p:spPr>
        <p:txBody>
          <a:bodyPr wrap="square" rtlCol="0" anchor="b"/>
          <a:lstStyle/>
          <a:p>
            <a:pPr indent="0" marL="0">
              <a:buNone/>
            </a:pPr>
            <a:r>
              <a:rPr lang="en-US" sz="1600" b="1" dirty="0">
                <a:solidFill>
                  <a:srgbClr val="21295C"/>
                </a:solidFill>
                <a:latin typeface="Calibri" pitchFamily="34" charset="0"/>
                <a:ea typeface="Calibri" pitchFamily="34" charset="-122"/>
                <a:cs typeface="Calibri" pitchFamily="34" charset="-120"/>
              </a:rPr>
              <a:t>GitHub</a:t>
            </a:r>
            <a:endParaRPr lang="en-US" sz="1600" dirty="0"/>
          </a:p>
        </p:txBody>
      </p:sp>
      <p:sp>
        <p:nvSpPr>
          <p:cNvPr id="34" name="Text 32"/>
          <p:cNvSpPr txBox="1"/>
          <p:nvPr/>
        </p:nvSpPr>
        <p:spPr>
          <a:xfrm>
            <a:off x="7543800" y="5733288"/>
            <a:ext cx="3886200" cy="594360"/>
          </a:xfrm>
          <a:prstGeom prst="rect">
            <a:avLst/>
          </a:prstGeom>
          <a:noFill/>
          <a:ln/>
        </p:spPr>
        <p:txBody>
          <a:bodyPr wrap="square" rtlCol="0" anchor="t"/>
          <a:lstStyle/>
          <a:p>
            <a:pPr indent="0" marL="0">
              <a:lnSpc>
                <a:spcPct val="110000"/>
              </a:lnSpc>
              <a:buNone/>
            </a:pPr>
            <a:r>
              <a:rPr lang="en-US" sz="1250" dirty="0">
                <a:solidFill>
                  <a:srgbClr val="5B6B79"/>
                </a:solidFill>
                <a:latin typeface="Calibri" pitchFamily="34" charset="0"/>
                <a:ea typeface="Calibri" pitchFamily="34" charset="-122"/>
                <a:cs typeface="Calibri" pitchFamily="34" charset="-120"/>
              </a:rPr>
              <a:t>Version control and project source management</a:t>
            </a:r>
            <a:endParaRPr lang="en-US" sz="1250" dirty="0"/>
          </a:p>
        </p:txBody>
      </p:sp>
      <p:sp>
        <p:nvSpPr>
          <p:cNvPr id="35" name="Text 33"/>
          <p:cNvSpPr txBox="1"/>
          <p:nvPr/>
        </p:nvSpPr>
        <p:spPr>
          <a:xfrm>
            <a:off x="457200" y="6528816"/>
            <a:ext cx="8229600" cy="274320"/>
          </a:xfrm>
          <a:prstGeom prst="rect">
            <a:avLst/>
          </a:prstGeom>
          <a:noFill/>
          <a:ln/>
        </p:spPr>
        <p:txBody>
          <a:bodyPr wrap="square" rtlCol="0" anchor="ctr"/>
          <a:lstStyle/>
          <a:p>
            <a:pPr algn="l" indent="0" marL="0">
              <a:buNone/>
            </a:pPr>
            <a:r>
              <a:rPr lang="en-US" sz="900" spc="100" kern="0" dirty="0">
                <a:solidFill>
                  <a:srgbClr val="5B6B79"/>
                </a:solidFill>
                <a:latin typeface="Calibri" pitchFamily="34" charset="0"/>
                <a:ea typeface="Calibri" pitchFamily="34" charset="-122"/>
                <a:cs typeface="Calibri" pitchFamily="34" charset="-120"/>
              </a:rPr>
              <a:t>EXPS NEXUS VIRTUAL INTERNSHIP  •  SALES PREDICTION USING PYTHON</a:t>
            </a:r>
            <a:endParaRPr lang="en-US" sz="900" dirty="0"/>
          </a:p>
        </p:txBody>
      </p:sp>
      <p:sp>
        <p:nvSpPr>
          <p:cNvPr id="36" name="Text 34"/>
          <p:cNvSpPr txBox="1"/>
          <p:nvPr/>
        </p:nvSpPr>
        <p:spPr>
          <a:xfrm>
            <a:off x="10972800" y="6528816"/>
            <a:ext cx="758952"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02 / 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DFE"/>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THE PIPELINE</a:t>
            </a:r>
            <a:endParaRPr lang="en-US" sz="1200" dirty="0"/>
          </a:p>
        </p:txBody>
      </p:sp>
      <p:sp>
        <p:nvSpPr>
          <p:cNvPr id="3" name="Text 1"/>
          <p:cNvSpPr txBox="1"/>
          <p:nvPr/>
        </p:nvSpPr>
        <p:spPr>
          <a:xfrm>
            <a:off x="640080" y="758952"/>
            <a:ext cx="105156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Step-by-Step Implementation Workflow</a:t>
            </a:r>
            <a:endParaRPr lang="en-US" sz="3200" dirty="0"/>
          </a:p>
        </p:txBody>
      </p:sp>
      <p:sp>
        <p:nvSpPr>
          <p:cNvPr id="4" name="Text 2"/>
          <p:cNvSpPr txBox="1"/>
          <p:nvPr/>
        </p:nvSpPr>
        <p:spPr>
          <a:xfrm>
            <a:off x="640080" y="1325880"/>
            <a:ext cx="10515600" cy="365760"/>
          </a:xfrm>
          <a:prstGeom prst="rect">
            <a:avLst/>
          </a:prstGeom>
          <a:noFill/>
          <a:ln/>
        </p:spPr>
        <p:txBody>
          <a:bodyPr wrap="square" rtlCol="0" anchor="ctr"/>
          <a:lstStyle/>
          <a:p>
            <a:pPr indent="0" marL="0">
              <a:buNone/>
            </a:pPr>
            <a:r>
              <a:rPr lang="en-US" sz="1600" i="1" dirty="0">
                <a:solidFill>
                  <a:srgbClr val="5B6B79"/>
                </a:solidFill>
                <a:latin typeface="Calibri" pitchFamily="34" charset="0"/>
                <a:ea typeface="Calibri" pitchFamily="34" charset="-122"/>
                <a:cs typeface="Calibri" pitchFamily="34" charset="-120"/>
              </a:rPr>
              <a:t>From raw marketing data to a validated prediction model</a:t>
            </a:r>
            <a:endParaRPr lang="en-US" sz="1600" dirty="0"/>
          </a:p>
        </p:txBody>
      </p:sp>
      <p:sp>
        <p:nvSpPr>
          <p:cNvPr id="5" name="Shape 3"/>
          <p:cNvSpPr/>
          <p:nvPr/>
        </p:nvSpPr>
        <p:spPr>
          <a:xfrm>
            <a:off x="1380744" y="2660904"/>
            <a:ext cx="9430207" cy="0"/>
          </a:xfrm>
          <a:prstGeom prst="line">
            <a:avLst/>
          </a:prstGeom>
          <a:noFill/>
          <a:ln w="38100">
            <a:solidFill>
              <a:srgbClr val="D7E3EA"/>
            </a:solidFill>
            <a:prstDash val="solid"/>
          </a:ln>
        </p:spPr>
      </p:sp>
      <p:sp>
        <p:nvSpPr>
          <p:cNvPr id="6" name="Shape 4"/>
          <p:cNvSpPr/>
          <p:nvPr/>
        </p:nvSpPr>
        <p:spPr>
          <a:xfrm>
            <a:off x="1051560" y="2331720"/>
            <a:ext cx="658368" cy="658368"/>
          </a:xfrm>
          <a:prstGeom prst="ellipse">
            <a:avLst/>
          </a:prstGeom>
          <a:solidFill>
            <a:srgbClr val="065A82"/>
          </a:solidFill>
          <a:ln/>
        </p:spPr>
      </p:sp>
      <p:sp>
        <p:nvSpPr>
          <p:cNvPr id="7" name="Text 5"/>
          <p:cNvSpPr txBox="1"/>
          <p:nvPr/>
        </p:nvSpPr>
        <p:spPr>
          <a:xfrm>
            <a:off x="1051560" y="2331720"/>
            <a:ext cx="658368" cy="658368"/>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548640" y="3099816"/>
            <a:ext cx="1664208" cy="502920"/>
          </a:xfrm>
          <a:prstGeom prst="rect">
            <a:avLst/>
          </a:prstGeom>
          <a:noFill/>
          <a:ln/>
        </p:spPr>
        <p:txBody>
          <a:bodyPr wrap="square" rtlCol="0" anchor="t"/>
          <a:lstStyle/>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Data</a:t>
            </a:r>
            <a:endParaRPr lang="en-US" sz="1250" dirty="0"/>
          </a:p>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Ingestion</a:t>
            </a:r>
            <a:endParaRPr lang="en-US" sz="1250" dirty="0"/>
          </a:p>
        </p:txBody>
      </p:sp>
      <p:sp>
        <p:nvSpPr>
          <p:cNvPr id="9" name="Shape 7"/>
          <p:cNvSpPr/>
          <p:nvPr/>
        </p:nvSpPr>
        <p:spPr>
          <a:xfrm>
            <a:off x="3573704" y="2331720"/>
            <a:ext cx="658368" cy="658368"/>
          </a:xfrm>
          <a:prstGeom prst="ellipse">
            <a:avLst/>
          </a:prstGeom>
          <a:solidFill>
            <a:srgbClr val="065A82"/>
          </a:solidFill>
          <a:ln/>
        </p:spPr>
      </p:sp>
      <p:sp>
        <p:nvSpPr>
          <p:cNvPr id="10" name="Text 8"/>
          <p:cNvSpPr txBox="1"/>
          <p:nvPr/>
        </p:nvSpPr>
        <p:spPr>
          <a:xfrm>
            <a:off x="3573704" y="2331720"/>
            <a:ext cx="658368" cy="658368"/>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3070784" y="3099816"/>
            <a:ext cx="1664208" cy="502920"/>
          </a:xfrm>
          <a:prstGeom prst="rect">
            <a:avLst/>
          </a:prstGeom>
          <a:noFill/>
          <a:ln/>
        </p:spPr>
        <p:txBody>
          <a:bodyPr wrap="square" rtlCol="0" anchor="t"/>
          <a:lstStyle/>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Exploratory</a:t>
            </a:r>
            <a:endParaRPr lang="en-US" sz="1250" dirty="0"/>
          </a:p>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Analysis</a:t>
            </a:r>
            <a:endParaRPr lang="en-US" sz="1250" dirty="0"/>
          </a:p>
        </p:txBody>
      </p:sp>
      <p:sp>
        <p:nvSpPr>
          <p:cNvPr id="12" name="Shape 10"/>
          <p:cNvSpPr/>
          <p:nvPr/>
        </p:nvSpPr>
        <p:spPr>
          <a:xfrm>
            <a:off x="6095848" y="2331720"/>
            <a:ext cx="658368" cy="658368"/>
          </a:xfrm>
          <a:prstGeom prst="ellipse">
            <a:avLst/>
          </a:prstGeom>
          <a:solidFill>
            <a:srgbClr val="065A82"/>
          </a:solidFill>
          <a:ln/>
        </p:spPr>
      </p:sp>
      <p:sp>
        <p:nvSpPr>
          <p:cNvPr id="13" name="Text 11"/>
          <p:cNvSpPr txBox="1"/>
          <p:nvPr/>
        </p:nvSpPr>
        <p:spPr>
          <a:xfrm>
            <a:off x="6095848" y="2331720"/>
            <a:ext cx="658368" cy="658368"/>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5592928" y="3099816"/>
            <a:ext cx="1664208" cy="502920"/>
          </a:xfrm>
          <a:prstGeom prst="rect">
            <a:avLst/>
          </a:prstGeom>
          <a:noFill/>
          <a:ln/>
        </p:spPr>
        <p:txBody>
          <a:bodyPr wrap="square" rtlCol="0" anchor="t"/>
          <a:lstStyle/>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Preprocessing</a:t>
            </a:r>
            <a:endParaRPr lang="en-US" sz="1250" dirty="0"/>
          </a:p>
        </p:txBody>
      </p:sp>
      <p:sp>
        <p:nvSpPr>
          <p:cNvPr id="15" name="Shape 13"/>
          <p:cNvSpPr/>
          <p:nvPr/>
        </p:nvSpPr>
        <p:spPr>
          <a:xfrm>
            <a:off x="8617991" y="2331720"/>
            <a:ext cx="658368" cy="658368"/>
          </a:xfrm>
          <a:prstGeom prst="ellipse">
            <a:avLst/>
          </a:prstGeom>
          <a:solidFill>
            <a:srgbClr val="065A82"/>
          </a:solidFill>
          <a:ln/>
        </p:spPr>
      </p:sp>
      <p:sp>
        <p:nvSpPr>
          <p:cNvPr id="16" name="Text 14"/>
          <p:cNvSpPr txBox="1"/>
          <p:nvPr/>
        </p:nvSpPr>
        <p:spPr>
          <a:xfrm>
            <a:off x="8617991" y="2331720"/>
            <a:ext cx="658368" cy="658368"/>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8115071" y="3099816"/>
            <a:ext cx="1664208" cy="502920"/>
          </a:xfrm>
          <a:prstGeom prst="rect">
            <a:avLst/>
          </a:prstGeom>
          <a:noFill/>
          <a:ln/>
        </p:spPr>
        <p:txBody>
          <a:bodyPr wrap="square" rtlCol="0" anchor="t"/>
          <a:lstStyle/>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Model</a:t>
            </a:r>
            <a:endParaRPr lang="en-US" sz="1250" dirty="0"/>
          </a:p>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Benchmarking</a:t>
            </a:r>
            <a:endParaRPr lang="en-US" sz="1250" dirty="0"/>
          </a:p>
        </p:txBody>
      </p:sp>
      <p:sp>
        <p:nvSpPr>
          <p:cNvPr id="18" name="Shape 16"/>
          <p:cNvSpPr/>
          <p:nvPr/>
        </p:nvSpPr>
        <p:spPr>
          <a:xfrm>
            <a:off x="11140135" y="2331720"/>
            <a:ext cx="658368" cy="658368"/>
          </a:xfrm>
          <a:prstGeom prst="ellipse">
            <a:avLst/>
          </a:prstGeom>
          <a:solidFill>
            <a:srgbClr val="F2C14E"/>
          </a:solidFill>
          <a:ln/>
        </p:spPr>
      </p:sp>
      <p:sp>
        <p:nvSpPr>
          <p:cNvPr id="19" name="Text 17"/>
          <p:cNvSpPr txBox="1"/>
          <p:nvPr/>
        </p:nvSpPr>
        <p:spPr>
          <a:xfrm>
            <a:off x="11140135" y="2331720"/>
            <a:ext cx="658368" cy="658368"/>
          </a:xfrm>
          <a:prstGeom prst="rect">
            <a:avLst/>
          </a:prstGeom>
          <a:noFill/>
          <a:ln/>
        </p:spPr>
        <p:txBody>
          <a:bodyPr wrap="square" lIns="0" tIns="0" rIns="0" bIns="0" rtlCol="0" anchor="ctr"/>
          <a:lstStyle/>
          <a:p>
            <a:pPr algn="ctr" indent="0" marL="0">
              <a:lnSpc>
                <a:spcPct val="100000"/>
              </a:lnSpc>
              <a:buNone/>
            </a:pPr>
            <a:r>
              <a:rPr lang="en-US" sz="1800" b="1" dirty="0">
                <a:solidFill>
                  <a:srgbClr val="21295C"/>
                </a:solidFill>
                <a:latin typeface="Calibri" pitchFamily="34" charset="0"/>
                <a:ea typeface="Calibri" pitchFamily="34" charset="-122"/>
                <a:cs typeface="Calibri" pitchFamily="34" charset="-120"/>
              </a:rPr>
              <a:t>5</a:t>
            </a:r>
            <a:endParaRPr lang="en-US" sz="1800" dirty="0"/>
          </a:p>
        </p:txBody>
      </p:sp>
      <p:sp>
        <p:nvSpPr>
          <p:cNvPr id="20" name="Text 18"/>
          <p:cNvSpPr txBox="1"/>
          <p:nvPr/>
        </p:nvSpPr>
        <p:spPr>
          <a:xfrm>
            <a:off x="10637215" y="3099816"/>
            <a:ext cx="1664208" cy="502920"/>
          </a:xfrm>
          <a:prstGeom prst="rect">
            <a:avLst/>
          </a:prstGeom>
          <a:noFill/>
          <a:ln/>
        </p:spPr>
        <p:txBody>
          <a:bodyPr wrap="square" rtlCol="0" anchor="t"/>
          <a:lstStyle/>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Validation</a:t>
            </a:r>
            <a:endParaRPr lang="en-US" sz="1250" dirty="0"/>
          </a:p>
          <a:p>
            <a:pPr algn="ctr" indent="0" marL="0">
              <a:lnSpc>
                <a:spcPct val="100000"/>
              </a:lnSpc>
              <a:buNone/>
            </a:pPr>
            <a:r>
              <a:rPr lang="en-US" sz="1250" b="1" dirty="0">
                <a:solidFill>
                  <a:srgbClr val="21295C"/>
                </a:solidFill>
                <a:latin typeface="Calibri" pitchFamily="34" charset="0"/>
                <a:ea typeface="Calibri" pitchFamily="34" charset="-122"/>
                <a:cs typeface="Calibri" pitchFamily="34" charset="-120"/>
              </a:rPr>
              <a:t>&amp; Strategy</a:t>
            </a:r>
            <a:endParaRPr lang="en-US" sz="1250" dirty="0"/>
          </a:p>
        </p:txBody>
      </p:sp>
      <p:sp>
        <p:nvSpPr>
          <p:cNvPr id="21" name="Text 19"/>
          <p:cNvSpPr txBox="1"/>
          <p:nvPr/>
        </p:nvSpPr>
        <p:spPr>
          <a:xfrm>
            <a:off x="640080" y="3794760"/>
            <a:ext cx="10881360" cy="2468880"/>
          </a:xfrm>
          <a:prstGeom prst="rect">
            <a:avLst/>
          </a:prstGeom>
          <a:noFill/>
          <a:ln/>
        </p:spPr>
        <p:txBody>
          <a:bodyPr wrap="square" rtlCol="0" anchor="t"/>
          <a:lstStyle/>
          <a:p>
            <a:pPr marL="228600" indent="-228600">
              <a:lnSpc>
                <a:spcPct val="108000"/>
              </a:lnSpc>
              <a:spcAft>
                <a:spcPts val="1400"/>
              </a:spcAft>
              <a:buSzPct val="100000"/>
              <a:buChar char="●"/>
            </a:pPr>
            <a:r>
              <a:rPr lang="en-US" sz="1450" dirty="0">
                <a:solidFill>
                  <a:srgbClr val="21295C"/>
                </a:solidFill>
                <a:latin typeface="Calibri" pitchFamily="34" charset="0"/>
                <a:ea typeface="Calibri" pitchFamily="34" charset="-122"/>
                <a:cs typeface="Calibri" pitchFamily="34" charset="-120"/>
              </a:rPr>
              <a:t>Data Ingestion &amp; Inspection — loaded marketing records, reviewed summary distributions, and confirmed zero missing values.</a:t>
            </a:r>
            <a:endParaRPr lang="en-US" sz="1450" dirty="0"/>
          </a:p>
          <a:p>
            <a:pPr marL="228600" indent="-228600">
              <a:lnSpc>
                <a:spcPct val="108000"/>
              </a:lnSpc>
              <a:spcAft>
                <a:spcPts val="1400"/>
              </a:spcAft>
              <a:buSzPct val="100000"/>
              <a:buChar char="●"/>
            </a:pPr>
            <a:r>
              <a:rPr lang="en-US" sz="1450" dirty="0">
                <a:solidFill>
                  <a:srgbClr val="21295C"/>
                </a:solidFill>
                <a:latin typeface="Calibri" pitchFamily="34" charset="0"/>
                <a:ea typeface="Calibri" pitchFamily="34" charset="-122"/>
                <a:cs typeface="Calibri" pitchFamily="34" charset="-120"/>
              </a:rPr>
              <a:t>Exploratory Data Analysis — measured each channel's correlation with sales and used pair plots to see spend-to-revenue patterns.</a:t>
            </a:r>
            <a:endParaRPr lang="en-US" sz="1450" dirty="0"/>
          </a:p>
          <a:p>
            <a:pPr marL="228600" indent="-228600">
              <a:lnSpc>
                <a:spcPct val="108000"/>
              </a:lnSpc>
              <a:spcAft>
                <a:spcPts val="1400"/>
              </a:spcAft>
              <a:buSzPct val="100000"/>
              <a:buChar char="●"/>
            </a:pPr>
            <a:r>
              <a:rPr lang="en-US" sz="1450" dirty="0">
                <a:solidFill>
                  <a:srgbClr val="21295C"/>
                </a:solidFill>
                <a:latin typeface="Calibri" pitchFamily="34" charset="0"/>
                <a:ea typeface="Calibri" pitchFamily="34" charset="-122"/>
                <a:cs typeface="Calibri" pitchFamily="34" charset="-120"/>
              </a:rPr>
              <a:t>Preprocessing — verified numeric column types and split the data 80/20 into training and test sets.</a:t>
            </a:r>
            <a:endParaRPr lang="en-US" sz="1450" dirty="0"/>
          </a:p>
          <a:p>
            <a:pPr marL="228600" indent="-228600">
              <a:lnSpc>
                <a:spcPct val="108000"/>
              </a:lnSpc>
              <a:spcAft>
                <a:spcPts val="1400"/>
              </a:spcAft>
              <a:buSzPct val="100000"/>
              <a:buChar char="●"/>
            </a:pPr>
            <a:r>
              <a:rPr lang="en-US" sz="1450" dirty="0">
                <a:solidFill>
                  <a:srgbClr val="21295C"/>
                </a:solidFill>
                <a:latin typeface="Calibri" pitchFamily="34" charset="0"/>
                <a:ea typeface="Calibri" pitchFamily="34" charset="-122"/>
                <a:cs typeface="Calibri" pitchFamily="34" charset="-120"/>
              </a:rPr>
              <a:t>Model Benchmarking &amp; Validation — trained OLS Linear Regression, Ridge, and Random Forest; validated with R², MAE, RMSE, and Actual vs. Predicted plots.</a:t>
            </a:r>
            <a:endParaRPr lang="en-US" sz="1450" dirty="0"/>
          </a:p>
        </p:txBody>
      </p:sp>
      <p:sp>
        <p:nvSpPr>
          <p:cNvPr id="22" name="Text 20"/>
          <p:cNvSpPr txBox="1"/>
          <p:nvPr/>
        </p:nvSpPr>
        <p:spPr>
          <a:xfrm>
            <a:off x="457200" y="6528816"/>
            <a:ext cx="8229600" cy="274320"/>
          </a:xfrm>
          <a:prstGeom prst="rect">
            <a:avLst/>
          </a:prstGeom>
          <a:noFill/>
          <a:ln/>
        </p:spPr>
        <p:txBody>
          <a:bodyPr wrap="square" rtlCol="0" anchor="ctr"/>
          <a:lstStyle/>
          <a:p>
            <a:pPr algn="l" indent="0" marL="0">
              <a:buNone/>
            </a:pPr>
            <a:r>
              <a:rPr lang="en-US" sz="900" spc="100" kern="0" dirty="0">
                <a:solidFill>
                  <a:srgbClr val="5B6B79"/>
                </a:solidFill>
                <a:latin typeface="Calibri" pitchFamily="34" charset="0"/>
                <a:ea typeface="Calibri" pitchFamily="34" charset="-122"/>
                <a:cs typeface="Calibri" pitchFamily="34" charset="-120"/>
              </a:rPr>
              <a:t>EXPS NEXUS VIRTUAL INTERNSHIP  •  SALES PREDICTION USING PYTHON</a:t>
            </a:r>
            <a:endParaRPr lang="en-US" sz="900" dirty="0"/>
          </a:p>
        </p:txBody>
      </p:sp>
      <p:sp>
        <p:nvSpPr>
          <p:cNvPr id="23" name="Text 21"/>
          <p:cNvSpPr txBox="1"/>
          <p:nvPr/>
        </p:nvSpPr>
        <p:spPr>
          <a:xfrm>
            <a:off x="10972800" y="6528816"/>
            <a:ext cx="758952"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03 / 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DFE"/>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PROBLEM SOLVING</a:t>
            </a:r>
            <a:endParaRPr lang="en-US" sz="1200" dirty="0"/>
          </a:p>
        </p:txBody>
      </p:sp>
      <p:sp>
        <p:nvSpPr>
          <p:cNvPr id="3" name="Text 1"/>
          <p:cNvSpPr txBox="1"/>
          <p:nvPr/>
        </p:nvSpPr>
        <p:spPr>
          <a:xfrm>
            <a:off x="640080" y="758952"/>
            <a:ext cx="105156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Challenges &amp; Technical Difficulties</a:t>
            </a:r>
            <a:endParaRPr lang="en-US" sz="3200" dirty="0"/>
          </a:p>
        </p:txBody>
      </p:sp>
      <p:sp>
        <p:nvSpPr>
          <p:cNvPr id="4" name="Text 2"/>
          <p:cNvSpPr txBox="1"/>
          <p:nvPr/>
        </p:nvSpPr>
        <p:spPr>
          <a:xfrm>
            <a:off x="640080" y="1325880"/>
            <a:ext cx="10515600" cy="365760"/>
          </a:xfrm>
          <a:prstGeom prst="rect">
            <a:avLst/>
          </a:prstGeom>
          <a:noFill/>
          <a:ln/>
        </p:spPr>
        <p:txBody>
          <a:bodyPr wrap="square" rtlCol="0" anchor="ctr"/>
          <a:lstStyle/>
          <a:p>
            <a:pPr indent="0" marL="0">
              <a:buNone/>
            </a:pPr>
            <a:r>
              <a:rPr lang="en-US" sz="1600" i="1" dirty="0">
                <a:solidFill>
                  <a:srgbClr val="5B6B79"/>
                </a:solidFill>
                <a:latin typeface="Calibri" pitchFamily="34" charset="0"/>
                <a:ea typeface="Calibri" pitchFamily="34" charset="-122"/>
                <a:cs typeface="Calibri" pitchFamily="34" charset="-120"/>
              </a:rPr>
              <a:t>Where simple analysis broke down — and how we fixed it</a:t>
            </a:r>
            <a:endParaRPr lang="en-US" sz="1600" dirty="0"/>
          </a:p>
        </p:txBody>
      </p:sp>
      <p:sp>
        <p:nvSpPr>
          <p:cNvPr id="5" name="Shape 3"/>
          <p:cNvSpPr/>
          <p:nvPr/>
        </p:nvSpPr>
        <p:spPr>
          <a:xfrm>
            <a:off x="640080" y="1965960"/>
            <a:ext cx="3520440" cy="3977640"/>
          </a:xfrm>
          <a:prstGeom prst="roundRect">
            <a:avLst>
              <a:gd name="adj" fmla="val 2338"/>
            </a:avLst>
          </a:prstGeom>
          <a:solidFill>
            <a:srgbClr val="FFFFFF"/>
          </a:solidFill>
          <a:ln w="12700">
            <a:solidFill>
              <a:srgbClr val="D7E3EA"/>
            </a:solidFill>
            <a:prstDash val="solid"/>
          </a:ln>
          <a:effectLst>
            <a:outerShdw sx="100000" sy="100000" kx="0" ky="0" algn="bl" rotWithShape="0" blurRad="76200" dist="25400" dir="5400000">
              <a:srgbClr val="21295C">
                <a:alpha val="10000"/>
              </a:srgbClr>
            </a:outerShdw>
          </a:effectLst>
        </p:spPr>
      </p:sp>
      <p:sp>
        <p:nvSpPr>
          <p:cNvPr id="6" name="Shape 4"/>
          <p:cNvSpPr/>
          <p:nvPr/>
        </p:nvSpPr>
        <p:spPr>
          <a:xfrm>
            <a:off x="2034540" y="2258568"/>
            <a:ext cx="731520" cy="731520"/>
          </a:xfrm>
          <a:prstGeom prst="ellipse">
            <a:avLst/>
          </a:prstGeom>
          <a:solidFill>
            <a:srgbClr val="065A82"/>
          </a:solidFill>
          <a:ln/>
        </p:spPr>
      </p:sp>
      <p:sp>
        <p:nvSpPr>
          <p:cNvPr id="7" name="Text 5"/>
          <p:cNvSpPr txBox="1"/>
          <p:nvPr/>
        </p:nvSpPr>
        <p:spPr>
          <a:xfrm>
            <a:off x="2034540" y="2258568"/>
            <a:ext cx="7315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822960" y="3136392"/>
            <a:ext cx="3154680" cy="502920"/>
          </a:xfrm>
          <a:prstGeom prst="rect">
            <a:avLst/>
          </a:prstGeom>
          <a:noFill/>
          <a:ln/>
        </p:spPr>
        <p:txBody>
          <a:bodyPr wrap="square" rtlCol="0" anchor="t"/>
          <a:lstStyle/>
          <a:p>
            <a:pPr algn="ctr" indent="0" marL="0">
              <a:buNone/>
            </a:pPr>
            <a:r>
              <a:rPr lang="en-US" sz="1550" b="1" dirty="0">
                <a:solidFill>
                  <a:srgbClr val="21295C"/>
                </a:solidFill>
                <a:latin typeface="Calibri" pitchFamily="34" charset="0"/>
                <a:ea typeface="Calibri" pitchFamily="34" charset="-122"/>
                <a:cs typeface="Calibri" pitchFamily="34" charset="-120"/>
              </a:rPr>
              <a:t>Misleading Correlation</a:t>
            </a:r>
            <a:endParaRPr lang="en-US" sz="1550" dirty="0"/>
          </a:p>
        </p:txBody>
      </p:sp>
      <p:sp>
        <p:nvSpPr>
          <p:cNvPr id="9" name="Text 7"/>
          <p:cNvSpPr txBox="1"/>
          <p:nvPr/>
        </p:nvSpPr>
        <p:spPr>
          <a:xfrm>
            <a:off x="896112" y="3703320"/>
            <a:ext cx="3008376" cy="1051560"/>
          </a:xfrm>
          <a:prstGeom prst="rect">
            <a:avLst/>
          </a:prstGeom>
          <a:noFill/>
          <a:ln/>
        </p:spPr>
        <p:txBody>
          <a:bodyPr wrap="square" rtlCol="0" anchor="t"/>
          <a:lstStyle/>
          <a:p>
            <a:pPr indent="0" marL="0">
              <a:lnSpc>
                <a:spcPct val="108000"/>
              </a:lnSpc>
              <a:spcAft>
                <a:spcPts val="300"/>
              </a:spcAft>
              <a:buNone/>
            </a:pPr>
            <a:r>
              <a:rPr lang="en-US" sz="1050" b="1" dirty="0">
                <a:solidFill>
                  <a:srgbClr val="1C7293"/>
                </a:solidFill>
              </a:rPr>
              <a:t>PROBLEM</a:t>
            </a:r>
            <a:endParaRPr lang="en-US" sz="1050" dirty="0"/>
          </a:p>
          <a:p>
            <a:pPr indent="0" marL="0">
              <a:lnSpc>
                <a:spcPct val="108000"/>
              </a:lnSpc>
              <a:buNone/>
            </a:pPr>
            <a:r>
              <a:rPr lang="en-US" sz="1250" dirty="0">
                <a:solidFill>
                  <a:srgbClr val="5B6B79"/>
                </a:solidFill>
              </a:rPr>
              <a:t>Newspaper spend looked correlated with sales in simple plots.</a:t>
            </a:r>
            <a:endParaRPr lang="en-US" sz="1050" dirty="0"/>
          </a:p>
        </p:txBody>
      </p:sp>
      <p:sp>
        <p:nvSpPr>
          <p:cNvPr id="10" name="Shape 8"/>
          <p:cNvSpPr/>
          <p:nvPr/>
        </p:nvSpPr>
        <p:spPr>
          <a:xfrm>
            <a:off x="896112" y="4754880"/>
            <a:ext cx="3008376" cy="0"/>
          </a:xfrm>
          <a:prstGeom prst="line">
            <a:avLst/>
          </a:prstGeom>
          <a:noFill/>
          <a:ln w="12700">
            <a:solidFill>
              <a:srgbClr val="D7E3EA"/>
            </a:solidFill>
            <a:prstDash val="solid"/>
          </a:ln>
        </p:spPr>
      </p:sp>
      <p:sp>
        <p:nvSpPr>
          <p:cNvPr id="11" name="Text 9"/>
          <p:cNvSpPr txBox="1"/>
          <p:nvPr/>
        </p:nvSpPr>
        <p:spPr>
          <a:xfrm>
            <a:off x="896112" y="4873752"/>
            <a:ext cx="3008376" cy="1005840"/>
          </a:xfrm>
          <a:prstGeom prst="rect">
            <a:avLst/>
          </a:prstGeom>
          <a:noFill/>
          <a:ln/>
        </p:spPr>
        <p:txBody>
          <a:bodyPr wrap="square" rtlCol="0" anchor="t"/>
          <a:lstStyle/>
          <a:p>
            <a:pPr indent="0" marL="0">
              <a:lnSpc>
                <a:spcPct val="108000"/>
              </a:lnSpc>
              <a:spcAft>
                <a:spcPts val="300"/>
              </a:spcAft>
              <a:buNone/>
            </a:pPr>
            <a:r>
              <a:rPr lang="en-US" sz="1050" b="1" dirty="0">
                <a:solidFill>
                  <a:srgbClr val="065A82"/>
                </a:solidFill>
              </a:rPr>
              <a:t>SOLUTION</a:t>
            </a:r>
            <a:endParaRPr lang="en-US" sz="1050" dirty="0"/>
          </a:p>
          <a:p>
            <a:pPr indent="0" marL="0">
              <a:lnSpc>
                <a:spcPct val="108000"/>
              </a:lnSpc>
              <a:buNone/>
            </a:pPr>
            <a:r>
              <a:rPr lang="en-US" sz="1250" dirty="0">
                <a:solidFill>
                  <a:srgbClr val="21295C"/>
                </a:solidFill>
              </a:rPr>
              <a:t>Partial coefficients showed its real impact was near zero — it was piggybacking on TV/Radio.</a:t>
            </a:r>
            <a:endParaRPr lang="en-US" sz="1050" dirty="0"/>
          </a:p>
        </p:txBody>
      </p:sp>
      <p:sp>
        <p:nvSpPr>
          <p:cNvPr id="12" name="Shape 10"/>
          <p:cNvSpPr/>
          <p:nvPr/>
        </p:nvSpPr>
        <p:spPr>
          <a:xfrm>
            <a:off x="4416552" y="1965960"/>
            <a:ext cx="3520440" cy="3977640"/>
          </a:xfrm>
          <a:prstGeom prst="roundRect">
            <a:avLst>
              <a:gd name="adj" fmla="val 2338"/>
            </a:avLst>
          </a:prstGeom>
          <a:solidFill>
            <a:srgbClr val="FFFFFF"/>
          </a:solidFill>
          <a:ln w="12700">
            <a:solidFill>
              <a:srgbClr val="D7E3EA"/>
            </a:solidFill>
            <a:prstDash val="solid"/>
          </a:ln>
          <a:effectLst>
            <a:outerShdw sx="100000" sy="100000" kx="0" ky="0" algn="bl" rotWithShape="0" blurRad="76200" dist="25400" dir="5400000">
              <a:srgbClr val="21295C">
                <a:alpha val="10000"/>
              </a:srgbClr>
            </a:outerShdw>
          </a:effectLst>
        </p:spPr>
      </p:sp>
      <p:sp>
        <p:nvSpPr>
          <p:cNvPr id="13" name="Shape 11"/>
          <p:cNvSpPr/>
          <p:nvPr/>
        </p:nvSpPr>
        <p:spPr>
          <a:xfrm>
            <a:off x="5811012" y="2258568"/>
            <a:ext cx="731520" cy="731520"/>
          </a:xfrm>
          <a:prstGeom prst="ellipse">
            <a:avLst/>
          </a:prstGeom>
          <a:solidFill>
            <a:srgbClr val="065A82"/>
          </a:solidFill>
          <a:ln/>
        </p:spPr>
      </p:sp>
      <p:sp>
        <p:nvSpPr>
          <p:cNvPr id="14" name="Text 12"/>
          <p:cNvSpPr txBox="1"/>
          <p:nvPr/>
        </p:nvSpPr>
        <p:spPr>
          <a:xfrm>
            <a:off x="5811012" y="2258568"/>
            <a:ext cx="7315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99432" y="3136392"/>
            <a:ext cx="3154680" cy="502920"/>
          </a:xfrm>
          <a:prstGeom prst="rect">
            <a:avLst/>
          </a:prstGeom>
          <a:noFill/>
          <a:ln/>
        </p:spPr>
        <p:txBody>
          <a:bodyPr wrap="square" rtlCol="0" anchor="t"/>
          <a:lstStyle/>
          <a:p>
            <a:pPr algn="ctr" indent="0" marL="0">
              <a:buNone/>
            </a:pPr>
            <a:r>
              <a:rPr lang="en-US" sz="1550" b="1" dirty="0">
                <a:solidFill>
                  <a:srgbClr val="21295C"/>
                </a:solidFill>
                <a:latin typeface="Calibri" pitchFamily="34" charset="0"/>
                <a:ea typeface="Calibri" pitchFamily="34" charset="-122"/>
                <a:cs typeface="Calibri" pitchFamily="34" charset="-120"/>
              </a:rPr>
              <a:t>Non-Linear Saturation</a:t>
            </a:r>
            <a:endParaRPr lang="en-US" sz="1550" dirty="0"/>
          </a:p>
        </p:txBody>
      </p:sp>
      <p:sp>
        <p:nvSpPr>
          <p:cNvPr id="16" name="Text 14"/>
          <p:cNvSpPr txBox="1"/>
          <p:nvPr/>
        </p:nvSpPr>
        <p:spPr>
          <a:xfrm>
            <a:off x="4672584" y="3703320"/>
            <a:ext cx="3008376" cy="1051560"/>
          </a:xfrm>
          <a:prstGeom prst="rect">
            <a:avLst/>
          </a:prstGeom>
          <a:noFill/>
          <a:ln/>
        </p:spPr>
        <p:txBody>
          <a:bodyPr wrap="square" rtlCol="0" anchor="t"/>
          <a:lstStyle/>
          <a:p>
            <a:pPr indent="0" marL="0">
              <a:lnSpc>
                <a:spcPct val="108000"/>
              </a:lnSpc>
              <a:spcAft>
                <a:spcPts val="300"/>
              </a:spcAft>
              <a:buNone/>
            </a:pPr>
            <a:r>
              <a:rPr lang="en-US" sz="1050" b="1" dirty="0">
                <a:solidFill>
                  <a:srgbClr val="1C7293"/>
                </a:solidFill>
              </a:rPr>
              <a:t>PROBLEM</a:t>
            </a:r>
            <a:endParaRPr lang="en-US" sz="1050" dirty="0"/>
          </a:p>
          <a:p>
            <a:pPr indent="0" marL="0">
              <a:lnSpc>
                <a:spcPct val="108000"/>
              </a:lnSpc>
              <a:buNone/>
            </a:pPr>
            <a:r>
              <a:rPr lang="en-US" sz="1250" dirty="0">
                <a:solidFill>
                  <a:srgbClr val="5B6B79"/>
                </a:solidFill>
              </a:rPr>
              <a:t>Extra ad spend hits diminishing returns a straight line can't capture.</a:t>
            </a:r>
            <a:endParaRPr lang="en-US" sz="1050" dirty="0"/>
          </a:p>
        </p:txBody>
      </p:sp>
      <p:sp>
        <p:nvSpPr>
          <p:cNvPr id="17" name="Shape 15"/>
          <p:cNvSpPr/>
          <p:nvPr/>
        </p:nvSpPr>
        <p:spPr>
          <a:xfrm>
            <a:off x="4672584" y="4754880"/>
            <a:ext cx="3008376" cy="0"/>
          </a:xfrm>
          <a:prstGeom prst="line">
            <a:avLst/>
          </a:prstGeom>
          <a:noFill/>
          <a:ln w="12700">
            <a:solidFill>
              <a:srgbClr val="D7E3EA"/>
            </a:solidFill>
            <a:prstDash val="solid"/>
          </a:ln>
        </p:spPr>
      </p:sp>
      <p:sp>
        <p:nvSpPr>
          <p:cNvPr id="18" name="Text 16"/>
          <p:cNvSpPr txBox="1"/>
          <p:nvPr/>
        </p:nvSpPr>
        <p:spPr>
          <a:xfrm>
            <a:off x="4672584" y="4873752"/>
            <a:ext cx="3008376" cy="1005840"/>
          </a:xfrm>
          <a:prstGeom prst="rect">
            <a:avLst/>
          </a:prstGeom>
          <a:noFill/>
          <a:ln/>
        </p:spPr>
        <p:txBody>
          <a:bodyPr wrap="square" rtlCol="0" anchor="t"/>
          <a:lstStyle/>
          <a:p>
            <a:pPr indent="0" marL="0">
              <a:lnSpc>
                <a:spcPct val="108000"/>
              </a:lnSpc>
              <a:spcAft>
                <a:spcPts val="300"/>
              </a:spcAft>
              <a:buNone/>
            </a:pPr>
            <a:r>
              <a:rPr lang="en-US" sz="1050" b="1" dirty="0">
                <a:solidFill>
                  <a:srgbClr val="065A82"/>
                </a:solidFill>
              </a:rPr>
              <a:t>SOLUTION</a:t>
            </a:r>
            <a:endParaRPr lang="en-US" sz="1050" dirty="0"/>
          </a:p>
          <a:p>
            <a:pPr indent="0" marL="0">
              <a:lnSpc>
                <a:spcPct val="108000"/>
              </a:lnSpc>
              <a:buNone/>
            </a:pPr>
            <a:r>
              <a:rPr lang="en-US" sz="1250" dirty="0">
                <a:solidFill>
                  <a:srgbClr val="21295C"/>
                </a:solidFill>
              </a:rPr>
              <a:t>Tested a Random Forest Regressor to model the non-linear plateau.</a:t>
            </a:r>
            <a:endParaRPr lang="en-US" sz="1050" dirty="0"/>
          </a:p>
        </p:txBody>
      </p:sp>
      <p:sp>
        <p:nvSpPr>
          <p:cNvPr id="19" name="Shape 17"/>
          <p:cNvSpPr/>
          <p:nvPr/>
        </p:nvSpPr>
        <p:spPr>
          <a:xfrm>
            <a:off x="8193024" y="1965960"/>
            <a:ext cx="3520440" cy="3977640"/>
          </a:xfrm>
          <a:prstGeom prst="roundRect">
            <a:avLst>
              <a:gd name="adj" fmla="val 2338"/>
            </a:avLst>
          </a:prstGeom>
          <a:solidFill>
            <a:srgbClr val="FFFFFF"/>
          </a:solidFill>
          <a:ln w="12700">
            <a:solidFill>
              <a:srgbClr val="D7E3EA"/>
            </a:solidFill>
            <a:prstDash val="solid"/>
          </a:ln>
          <a:effectLst>
            <a:outerShdw sx="100000" sy="100000" kx="0" ky="0" algn="bl" rotWithShape="0" blurRad="76200" dist="25400" dir="5400000">
              <a:srgbClr val="21295C">
                <a:alpha val="10000"/>
              </a:srgbClr>
            </a:outerShdw>
          </a:effectLst>
        </p:spPr>
      </p:sp>
      <p:sp>
        <p:nvSpPr>
          <p:cNvPr id="20" name="Shape 18"/>
          <p:cNvSpPr/>
          <p:nvPr/>
        </p:nvSpPr>
        <p:spPr>
          <a:xfrm>
            <a:off x="9587484" y="2258568"/>
            <a:ext cx="731520" cy="731520"/>
          </a:xfrm>
          <a:prstGeom prst="ellipse">
            <a:avLst/>
          </a:prstGeom>
          <a:solidFill>
            <a:srgbClr val="065A82"/>
          </a:solidFill>
          <a:ln/>
        </p:spPr>
      </p:sp>
      <p:sp>
        <p:nvSpPr>
          <p:cNvPr id="21" name="Text 19"/>
          <p:cNvSpPr txBox="1"/>
          <p:nvPr/>
        </p:nvSpPr>
        <p:spPr>
          <a:xfrm>
            <a:off x="9587484" y="2258568"/>
            <a:ext cx="7315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txBox="1"/>
          <p:nvPr/>
        </p:nvSpPr>
        <p:spPr>
          <a:xfrm>
            <a:off x="8375904" y="3136392"/>
            <a:ext cx="3154680" cy="502920"/>
          </a:xfrm>
          <a:prstGeom prst="rect">
            <a:avLst/>
          </a:prstGeom>
          <a:noFill/>
          <a:ln/>
        </p:spPr>
        <p:txBody>
          <a:bodyPr wrap="square" rtlCol="0" anchor="t"/>
          <a:lstStyle/>
          <a:p>
            <a:pPr algn="ctr" indent="0" marL="0">
              <a:buNone/>
            </a:pPr>
            <a:r>
              <a:rPr lang="en-US" sz="1550" b="1" dirty="0">
                <a:solidFill>
                  <a:srgbClr val="21295C"/>
                </a:solidFill>
                <a:latin typeface="Calibri" pitchFamily="34" charset="0"/>
                <a:ea typeface="Calibri" pitchFamily="34" charset="-122"/>
                <a:cs typeface="Calibri" pitchFamily="34" charset="-120"/>
              </a:rPr>
              <a:t>Budget Misallocation Risk</a:t>
            </a:r>
            <a:endParaRPr lang="en-US" sz="1550" dirty="0"/>
          </a:p>
        </p:txBody>
      </p:sp>
      <p:sp>
        <p:nvSpPr>
          <p:cNvPr id="23" name="Text 21"/>
          <p:cNvSpPr txBox="1"/>
          <p:nvPr/>
        </p:nvSpPr>
        <p:spPr>
          <a:xfrm>
            <a:off x="8449056" y="3703320"/>
            <a:ext cx="3008376" cy="1051560"/>
          </a:xfrm>
          <a:prstGeom prst="rect">
            <a:avLst/>
          </a:prstGeom>
          <a:noFill/>
          <a:ln/>
        </p:spPr>
        <p:txBody>
          <a:bodyPr wrap="square" rtlCol="0" anchor="t"/>
          <a:lstStyle/>
          <a:p>
            <a:pPr indent="0" marL="0">
              <a:lnSpc>
                <a:spcPct val="108000"/>
              </a:lnSpc>
              <a:spcAft>
                <a:spcPts val="300"/>
              </a:spcAft>
              <a:buNone/>
            </a:pPr>
            <a:r>
              <a:rPr lang="en-US" sz="1050" b="1" dirty="0">
                <a:solidFill>
                  <a:srgbClr val="1C7293"/>
                </a:solidFill>
              </a:rPr>
              <a:t>PROBLEM</a:t>
            </a:r>
            <a:endParaRPr lang="en-US" sz="1050" dirty="0"/>
          </a:p>
          <a:p>
            <a:pPr indent="0" marL="0">
              <a:lnSpc>
                <a:spcPct val="108000"/>
              </a:lnSpc>
              <a:buNone/>
            </a:pPr>
            <a:r>
              <a:rPr lang="en-US" sz="1250" dirty="0">
                <a:solidFill>
                  <a:srgbClr val="5B6B79"/>
                </a:solidFill>
              </a:rPr>
              <a:t>Wrong assumptions could route money to low-return channels.</a:t>
            </a:r>
            <a:endParaRPr lang="en-US" sz="1050" dirty="0"/>
          </a:p>
        </p:txBody>
      </p:sp>
      <p:sp>
        <p:nvSpPr>
          <p:cNvPr id="24" name="Shape 22"/>
          <p:cNvSpPr/>
          <p:nvPr/>
        </p:nvSpPr>
        <p:spPr>
          <a:xfrm>
            <a:off x="8449056" y="4754880"/>
            <a:ext cx="3008376" cy="0"/>
          </a:xfrm>
          <a:prstGeom prst="line">
            <a:avLst/>
          </a:prstGeom>
          <a:noFill/>
          <a:ln w="12700">
            <a:solidFill>
              <a:srgbClr val="D7E3EA"/>
            </a:solidFill>
            <a:prstDash val="solid"/>
          </a:ln>
        </p:spPr>
      </p:sp>
      <p:sp>
        <p:nvSpPr>
          <p:cNvPr id="25" name="Text 23"/>
          <p:cNvSpPr txBox="1"/>
          <p:nvPr/>
        </p:nvSpPr>
        <p:spPr>
          <a:xfrm>
            <a:off x="8449056" y="4873752"/>
            <a:ext cx="3008376" cy="1005840"/>
          </a:xfrm>
          <a:prstGeom prst="rect">
            <a:avLst/>
          </a:prstGeom>
          <a:noFill/>
          <a:ln/>
        </p:spPr>
        <p:txBody>
          <a:bodyPr wrap="square" rtlCol="0" anchor="t"/>
          <a:lstStyle/>
          <a:p>
            <a:pPr indent="0" marL="0">
              <a:lnSpc>
                <a:spcPct val="108000"/>
              </a:lnSpc>
              <a:spcAft>
                <a:spcPts val="300"/>
              </a:spcAft>
              <a:buNone/>
            </a:pPr>
            <a:r>
              <a:rPr lang="en-US" sz="1050" b="1" dirty="0">
                <a:solidFill>
                  <a:srgbClr val="065A82"/>
                </a:solidFill>
              </a:rPr>
              <a:t>SOLUTION</a:t>
            </a:r>
            <a:endParaRPr lang="en-US" sz="1050" dirty="0"/>
          </a:p>
          <a:p>
            <a:pPr indent="0" marL="0">
              <a:lnSpc>
                <a:spcPct val="108000"/>
              </a:lnSpc>
              <a:buNone/>
            </a:pPr>
            <a:r>
              <a:rPr lang="en-US" sz="1250" dirty="0">
                <a:solidFill>
                  <a:srgbClr val="21295C"/>
                </a:solidFill>
              </a:rPr>
              <a:t>Quantified the exact unit return per $1,000 spent, channel by channel.</a:t>
            </a:r>
            <a:endParaRPr lang="en-US" sz="1050" dirty="0"/>
          </a:p>
        </p:txBody>
      </p:sp>
      <p:sp>
        <p:nvSpPr>
          <p:cNvPr id="26" name="Text 24"/>
          <p:cNvSpPr txBox="1"/>
          <p:nvPr/>
        </p:nvSpPr>
        <p:spPr>
          <a:xfrm>
            <a:off x="457200" y="6528816"/>
            <a:ext cx="8229600" cy="274320"/>
          </a:xfrm>
          <a:prstGeom prst="rect">
            <a:avLst/>
          </a:prstGeom>
          <a:noFill/>
          <a:ln/>
        </p:spPr>
        <p:txBody>
          <a:bodyPr wrap="square" rtlCol="0" anchor="ctr"/>
          <a:lstStyle/>
          <a:p>
            <a:pPr algn="l" indent="0" marL="0">
              <a:buNone/>
            </a:pPr>
            <a:r>
              <a:rPr lang="en-US" sz="900" spc="100" kern="0" dirty="0">
                <a:solidFill>
                  <a:srgbClr val="5B6B79"/>
                </a:solidFill>
                <a:latin typeface="Calibri" pitchFamily="34" charset="0"/>
                <a:ea typeface="Calibri" pitchFamily="34" charset="-122"/>
                <a:cs typeface="Calibri" pitchFamily="34" charset="-120"/>
              </a:rPr>
              <a:t>EXPS NEXUS VIRTUAL INTERNSHIP  •  SALES PREDICTION USING PYTHON</a:t>
            </a:r>
            <a:endParaRPr lang="en-US" sz="900" dirty="0"/>
          </a:p>
        </p:txBody>
      </p:sp>
      <p:sp>
        <p:nvSpPr>
          <p:cNvPr id="27" name="Text 25"/>
          <p:cNvSpPr txBox="1"/>
          <p:nvPr/>
        </p:nvSpPr>
        <p:spPr>
          <a:xfrm>
            <a:off x="10972800" y="6528816"/>
            <a:ext cx="758952"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04 / 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rtlCol="0" anchor="ctr"/>
          <a:lstStyle/>
          <a:p>
            <a:pPr algn="l" indent="0" marL="0">
              <a:buNone/>
            </a:pPr>
            <a:r>
              <a:rPr lang="en-US" sz="1200" b="1" spc="200" kern="0" dirty="0">
                <a:solidFill>
                  <a:srgbClr val="F2C14E"/>
                </a:solidFill>
                <a:latin typeface="Calibri" pitchFamily="34" charset="0"/>
                <a:ea typeface="Calibri" pitchFamily="34" charset="-122"/>
                <a:cs typeface="Calibri" pitchFamily="34" charset="-120"/>
              </a:rPr>
              <a:t>RESULTS &amp; RECOMMENDATION</a:t>
            </a:r>
            <a:endParaRPr lang="en-US" sz="1200" dirty="0"/>
          </a:p>
        </p:txBody>
      </p:sp>
      <p:sp>
        <p:nvSpPr>
          <p:cNvPr id="3" name="Text 1"/>
          <p:cNvSpPr txBox="1"/>
          <p:nvPr/>
        </p:nvSpPr>
        <p:spPr>
          <a:xfrm>
            <a:off x="640080" y="822960"/>
            <a:ext cx="10515600" cy="685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Model Results &amp; Budget Takeaways</a:t>
            </a:r>
            <a:endParaRPr lang="en-US" sz="3400" dirty="0"/>
          </a:p>
        </p:txBody>
      </p:sp>
      <p:sp>
        <p:nvSpPr>
          <p:cNvPr id="4" name="Text 2"/>
          <p:cNvSpPr txBox="1"/>
          <p:nvPr/>
        </p:nvSpPr>
        <p:spPr>
          <a:xfrm>
            <a:off x="640080" y="1481328"/>
            <a:ext cx="10515600" cy="411480"/>
          </a:xfrm>
          <a:prstGeom prst="rect">
            <a:avLst/>
          </a:prstGeom>
          <a:noFill/>
          <a:ln/>
        </p:spPr>
        <p:txBody>
          <a:bodyPr wrap="square" rtlCol="0" anchor="ctr"/>
          <a:lstStyle/>
          <a:p>
            <a:pPr indent="0" marL="0">
              <a:buNone/>
            </a:pPr>
            <a:r>
              <a:rPr lang="en-US" sz="1600" i="1" dirty="0">
                <a:solidFill>
                  <a:srgbClr val="CFE3EF"/>
                </a:solidFill>
                <a:latin typeface="Calibri" pitchFamily="34" charset="0"/>
                <a:ea typeface="Calibri" pitchFamily="34" charset="-122"/>
                <a:cs typeface="Calibri" pitchFamily="34" charset="-120"/>
              </a:rPr>
              <a:t>Random Forest wins — shift ad spend toward TV and Radio</a:t>
            </a:r>
            <a:endParaRPr lang="en-US" sz="1600" dirty="0"/>
          </a:p>
        </p:txBody>
      </p:sp>
      <p:graphicFrame>
        <p:nvGraphicFramePr>
          <p:cNvPr id="5" name="Chart 0" descr=""/>
          <p:cNvGraphicFramePr/>
          <p:nvPr/>
        </p:nvGraphicFramePr>
        <p:xfrm>
          <a:off x="640080" y="2148840"/>
          <a:ext cx="521208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63640" y="2286000"/>
            <a:ext cx="5349240" cy="3840480"/>
          </a:xfrm>
          <a:prstGeom prst="rect">
            <a:avLst/>
          </a:prstGeom>
          <a:noFill/>
          <a:ln/>
        </p:spPr>
        <p:txBody>
          <a:bodyPr wrap="square" rtlCol="0" anchor="t"/>
          <a:lstStyle/>
          <a:p>
            <a:pPr marL="228600" indent="-228600">
              <a:lnSpc>
                <a:spcPct val="108000"/>
              </a:lnSpc>
              <a:spcAft>
                <a:spcPts val="1600"/>
              </a:spcAft>
              <a:buSzPct val="100000"/>
              <a:buChar char="●"/>
            </a:pPr>
            <a:r>
              <a:rPr lang="en-US" sz="1450" dirty="0">
                <a:solidFill>
                  <a:srgbClr val="FFFFFF"/>
                </a:solidFill>
                <a:latin typeface="Calibri" pitchFamily="34" charset="0"/>
                <a:ea typeface="Calibri" pitchFamily="34" charset="-122"/>
                <a:cs typeface="Calibri" pitchFamily="34" charset="-120"/>
              </a:rPr>
              <a:t>Random Forest delivered the best fit — R² ≈ 0.975 — clearly outperforming Linear Regression's R² ≈ 0.899.</a:t>
            </a:r>
            <a:endParaRPr lang="en-US" sz="1450" dirty="0"/>
          </a:p>
          <a:p>
            <a:pPr marL="228600" indent="-228600">
              <a:lnSpc>
                <a:spcPct val="108000"/>
              </a:lnSpc>
              <a:spcAft>
                <a:spcPts val="1600"/>
              </a:spcAft>
              <a:buSzPct val="100000"/>
              <a:buChar char="●"/>
            </a:pPr>
            <a:r>
              <a:rPr lang="en-US" sz="1450" dirty="0">
                <a:solidFill>
                  <a:srgbClr val="FFFFFF"/>
                </a:solidFill>
                <a:latin typeface="Calibri" pitchFamily="34" charset="0"/>
                <a:ea typeface="Calibri" pitchFamily="34" charset="-122"/>
                <a:cs typeface="Calibri" pitchFamily="34" charset="-120"/>
              </a:rPr>
              <a:t>TV spend is the high-volume base driver of broad brand reach.</a:t>
            </a:r>
            <a:endParaRPr lang="en-US" sz="1450" dirty="0"/>
          </a:p>
          <a:p>
            <a:pPr marL="228600" indent="-228600">
              <a:lnSpc>
                <a:spcPct val="108000"/>
              </a:lnSpc>
              <a:spcAft>
                <a:spcPts val="1600"/>
              </a:spcAft>
              <a:buSzPct val="100000"/>
              <a:buChar char="●"/>
            </a:pPr>
            <a:r>
              <a:rPr lang="en-US" sz="1450" dirty="0">
                <a:solidFill>
                  <a:srgbClr val="FFFFFF"/>
                </a:solidFill>
                <a:latin typeface="Calibri" pitchFamily="34" charset="0"/>
                <a:ea typeface="Calibri" pitchFamily="34" charset="-122"/>
                <a:cs typeface="Calibri" pitchFamily="34" charset="-120"/>
              </a:rPr>
              <a:t>Radio spend is a high-efficiency multiplier with strong marginal sales lift per dollar.</a:t>
            </a:r>
            <a:endParaRPr lang="en-US" sz="1450" dirty="0"/>
          </a:p>
          <a:p>
            <a:pPr marL="228600" indent="-228600">
              <a:lnSpc>
                <a:spcPct val="108000"/>
              </a:lnSpc>
              <a:spcAft>
                <a:spcPts val="1600"/>
              </a:spcAft>
              <a:buSzPct val="100000"/>
              <a:buChar char="●"/>
            </a:pPr>
            <a:r>
              <a:rPr lang="en-US" sz="1450" dirty="0">
                <a:solidFill>
                  <a:srgbClr val="FFFFFF"/>
                </a:solidFill>
                <a:latin typeface="Calibri" pitchFamily="34" charset="0"/>
                <a:ea typeface="Calibri" pitchFamily="34" charset="-122"/>
                <a:cs typeface="Calibri" pitchFamily="34" charset="-120"/>
              </a:rPr>
              <a:t>Newspaper spend shows near-zero marginal return — reallocate that budget to TV and Radio.</a:t>
            </a:r>
            <a:endParaRPr lang="en-US" sz="1450" dirty="0"/>
          </a:p>
        </p:txBody>
      </p:sp>
      <p:sp>
        <p:nvSpPr>
          <p:cNvPr id="7" name="Text 4"/>
          <p:cNvSpPr txBox="1"/>
          <p:nvPr/>
        </p:nvSpPr>
        <p:spPr>
          <a:xfrm>
            <a:off x="457200" y="6528816"/>
            <a:ext cx="8229600" cy="274320"/>
          </a:xfrm>
          <a:prstGeom prst="rect">
            <a:avLst/>
          </a:prstGeom>
          <a:noFill/>
          <a:ln/>
        </p:spPr>
        <p:txBody>
          <a:bodyPr wrap="square" rtlCol="0" anchor="ctr"/>
          <a:lstStyle/>
          <a:p>
            <a:pPr algn="l" indent="0" marL="0">
              <a:buNone/>
            </a:pPr>
            <a:r>
              <a:rPr lang="en-US" sz="900" spc="100" kern="0" dirty="0">
                <a:solidFill>
                  <a:srgbClr val="CFE3EF"/>
                </a:solidFill>
                <a:latin typeface="Calibri" pitchFamily="34" charset="0"/>
                <a:ea typeface="Calibri" pitchFamily="34" charset="-122"/>
                <a:cs typeface="Calibri" pitchFamily="34" charset="-120"/>
              </a:rPr>
              <a:t>EXPS NEXUS VIRTUAL INTERNSHIP  •  SALES PREDICTION USING PYTHON</a:t>
            </a:r>
            <a:endParaRPr lang="en-US" sz="900" dirty="0"/>
          </a:p>
        </p:txBody>
      </p:sp>
      <p:sp>
        <p:nvSpPr>
          <p:cNvPr id="8" name="Text 5"/>
          <p:cNvSpPr txBox="1"/>
          <p:nvPr/>
        </p:nvSpPr>
        <p:spPr>
          <a:xfrm>
            <a:off x="10972800" y="6528816"/>
            <a:ext cx="758952" cy="274320"/>
          </a:xfrm>
          <a:prstGeom prst="rect">
            <a:avLst/>
          </a:prstGeom>
          <a:noFill/>
          <a:ln/>
        </p:spPr>
        <p:txBody>
          <a:bodyPr wrap="square" rtlCol="0" anchor="ctr"/>
          <a:lstStyle/>
          <a:p>
            <a:pPr algn="r" indent="0" marL="0">
              <a:buNone/>
            </a:pPr>
            <a:r>
              <a:rPr lang="en-US" sz="900" dirty="0">
                <a:solidFill>
                  <a:srgbClr val="CFE3EF"/>
                </a:solidFill>
                <a:latin typeface="Calibri" pitchFamily="34" charset="0"/>
                <a:ea typeface="Calibri" pitchFamily="34" charset="-122"/>
                <a:cs typeface="Calibri" pitchFamily="34" charset="-120"/>
              </a:rPr>
              <a:t>05 / 05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2026-09-08T20:55:46Z</dcterms:created>
  <dcterms:modified xsi:type="dcterms:W3CDTF">2026-09-08T20:55:46Z</dcterms:modified>
</cp:coreProperties>
</file>